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e60f5624854e2b" /><Relationship Type="http://schemas.openxmlformats.org/officeDocument/2006/relationships/extended-properties" Target="/docProps/app.xml" Id="R8888897004c84051" /><Relationship Type="http://schemas.openxmlformats.org/officeDocument/2006/relationships/officeDocument" Target="/ppt/presentation.xml" Id="R1ab6cc7b433146d4" /></Relationships>
</file>

<file path=ppt/presentation.xml><?xml version="1.0" encoding="utf-8"?>
<p:presentation xmlns:p="http://schemas.openxmlformats.org/presentationml/2006/main">
  <p:sldMasterIdLst>
    <p:sldMasterId xmlns:r="http://schemas.openxmlformats.org/officeDocument/2006/relationships" id="2147483648" r:id="R1767c291fbfd41c7"/>
  </p:sldMasterIdLst>
  <p:notesMasterIdLst>
    <p:notesMasterId xmlns:r="http://schemas.openxmlformats.org/officeDocument/2006/relationships" r:id="Rd718634614b64a7f"/>
  </p:notesMasterIdLst>
  <p:sldIdLst>
    <p:sldId xmlns:r="http://schemas.openxmlformats.org/officeDocument/2006/relationships" id="256" r:id="Rbdd7c20ef2964d65"/>
    <p:sldId xmlns:r="http://schemas.openxmlformats.org/officeDocument/2006/relationships" id="257" r:id="R267895d0d3a84ee1"/>
    <p:sldId xmlns:r="http://schemas.openxmlformats.org/officeDocument/2006/relationships" id="258" r:id="Ra37bfe3098104893"/>
    <p:sldId xmlns:r="http://schemas.openxmlformats.org/officeDocument/2006/relationships" id="259" r:id="R4d2646aeb49a4785"/>
    <p:sldId xmlns:r="http://schemas.openxmlformats.org/officeDocument/2006/relationships" id="260" r:id="Re929ac6659124868"/>
    <p:sldId xmlns:r="http://schemas.openxmlformats.org/officeDocument/2006/relationships" id="261" r:id="R16c7cd6999624313"/>
    <p:sldId xmlns:r="http://schemas.openxmlformats.org/officeDocument/2006/relationships" id="262" r:id="Rb159db7baa9c4162"/>
    <p:sldId xmlns:r="http://schemas.openxmlformats.org/officeDocument/2006/relationships" id="263" r:id="R271d9caacaca40c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32b8a62c024e05" /><Relationship Type="http://schemas.openxmlformats.org/officeDocument/2006/relationships/slideMaster" Target="/ppt/slideMasters/slideMaster1.xml" Id="R1767c291fbfd41c7" /><Relationship Type="http://schemas.openxmlformats.org/officeDocument/2006/relationships/notesMaster" Target="/ppt/notesMasters/notesMaster1.xml" Id="Rd718634614b64a7f" /><Relationship Type="http://schemas.openxmlformats.org/officeDocument/2006/relationships/presProps" Target="/ppt/presProps.xml" Id="R552a308e7e93499d" /><Relationship Type="http://schemas.openxmlformats.org/officeDocument/2006/relationships/tableStyles" Target="/ppt/tableStyles.xml" Id="R0ffb33bccf214c32" /><Relationship Type="http://schemas.openxmlformats.org/officeDocument/2006/relationships/slide" Target="/ppt/slides/slide1.xml" Id="Rbdd7c20ef2964d65" /><Relationship Type="http://schemas.openxmlformats.org/officeDocument/2006/relationships/slide" Target="/ppt/slides/slide2.xml" Id="R267895d0d3a84ee1" /><Relationship Type="http://schemas.openxmlformats.org/officeDocument/2006/relationships/slide" Target="/ppt/slides/slide3.xml" Id="Ra37bfe3098104893" /><Relationship Type="http://schemas.openxmlformats.org/officeDocument/2006/relationships/slide" Target="/ppt/slides/slide4.xml" Id="R4d2646aeb49a4785" /><Relationship Type="http://schemas.openxmlformats.org/officeDocument/2006/relationships/slide" Target="/ppt/slides/slide5.xml" Id="Re929ac6659124868" /><Relationship Type="http://schemas.openxmlformats.org/officeDocument/2006/relationships/slide" Target="/ppt/slides/slide6.xml" Id="R16c7cd6999624313" /><Relationship Type="http://schemas.openxmlformats.org/officeDocument/2006/relationships/slide" Target="/ppt/slides/slide7.xml" Id="Rb159db7baa9c4162" /><Relationship Type="http://schemas.openxmlformats.org/officeDocument/2006/relationships/slide" Target="/ppt/slides/slide8.xml" Id="R271d9caacaca40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5fb3831ae241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e4dc49ae7941b4" /><Relationship Type="http://schemas.openxmlformats.org/officeDocument/2006/relationships/notesMaster" Target="/ppt/notesMasters/notesMaster1.xml" Id="R245c24412ea541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f3aff5a4bb4858" /><Relationship Type="http://schemas.openxmlformats.org/officeDocument/2006/relationships/notesMaster" Target="/ppt/notesMasters/notesMaster1.xml" Id="R0e1170162e4947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678ceb3ae949ce" /><Relationship Type="http://schemas.openxmlformats.org/officeDocument/2006/relationships/notesMaster" Target="/ppt/notesMasters/notesMaster1.xml" Id="R3c089de0d28941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4869187b7d480c" /><Relationship Type="http://schemas.openxmlformats.org/officeDocument/2006/relationships/notesMaster" Target="/ppt/notesMasters/notesMaster1.xml" Id="Rf8bad22da49341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eeb2e93b2541f4" /><Relationship Type="http://schemas.openxmlformats.org/officeDocument/2006/relationships/notesMaster" Target="/ppt/notesMasters/notesMaster1.xml" Id="Rfd28b081f8e44c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2b1e5bcc534819" /><Relationship Type="http://schemas.openxmlformats.org/officeDocument/2006/relationships/notesMaster" Target="/ppt/notesMasters/notesMaster1.xml" Id="R63bbcf0fd3c44e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d1ffcfcea8c4f98" /><Relationship Type="http://schemas.openxmlformats.org/officeDocument/2006/relationships/notesMaster" Target="/ppt/notesMasters/notesMaster1.xml" Id="Rc6932871291346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8831466b2bf4539" /><Relationship Type="http://schemas.openxmlformats.org/officeDocument/2006/relationships/notesMaster" Target="/ppt/notesMasters/notesMaster1.xml" Id="R9e57bcec17da4e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one sentence: ‘AAC can restore a channel for speech, but a channel is not the same thing as authorship.’ Then introduce EyeReply, the name used in the ICCHP program, and VisioALS, the software name. Do not start with the tech stack.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example is intentionally labeled illustrative; do not present it as user-study evidence. Say: ‘The innovation I care about is not simply generating a plausible answer. It is generating choices the person would plausibly choose and phrase themselves.’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only to set up the live demo. Ask someone in the room to say, ‘How are you doing today?’ Then let the system run. Narrate as little as possible while it is working. Deliberately point out ‘None of these’ because rejection is part of user agency, not an error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precise here. Voice cloning is how the output sounds acoustically; linguistic identity is how the reply is worded. They are different. Also emphasize the safety boundary implemented in the prompt: profile material controls style only, never subject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design-principles slide. Keep it human-centered. Avoid listing model names unless someone asks. The strongest point is that generative suggestions do not remove authorship if the person retains choice, rejection and adaptation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you can collect these before presenting, replace the descriptions with real numbers and state the device, lighting, number of trials and participant count. If you cannot, present this as the evaluation plan and say so. Do not call automated unit tests a user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buys credibility. Say clearly whether any person with ALS has tested the current version. Experts at ICCHP will care more about an honest boundary and a sensible next study than an inflated claim. Invite collaborators who can help with participatory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opening distinction between channel and authorship. Then move immediately to hands-on interaction: ‘Please try it. I am especially interested in the failures—bad suggestions, awkward gaze behavior, or anything that feels presumptuous.’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ee392625084f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df775f355b4c20" /><Relationship Type="http://schemas.openxmlformats.org/officeDocument/2006/relationships/slideLayout" Target="/ppt/slideLayouts/slideLayout1.xml" Id="R90adf7a9da9346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adf7a9da9346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1577c05251d4b71" /><Relationship Type="http://schemas.openxmlformats.org/officeDocument/2006/relationships/notesSlide" Target="/ppt/notesSlides/notesSlide1.xml" Id="R29b15ef0713b41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315dae49214328" /><Relationship Type="http://schemas.openxmlformats.org/officeDocument/2006/relationships/notesSlide" Target="/ppt/notesSlides/notesSlide2.xml" Id="Rf34979c8a2cd42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17d91f1f544845" /><Relationship Type="http://schemas.openxmlformats.org/officeDocument/2006/relationships/image" Target="/ppt/media/image.png" Id="R8093d1a0520e4a53" /><Relationship Type="http://schemas.openxmlformats.org/officeDocument/2006/relationships/notesSlide" Target="/ppt/notesSlides/notesSlide3.xml" Id="R5815a66c9a914d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7778a14baf0407e" /><Relationship Type="http://schemas.openxmlformats.org/officeDocument/2006/relationships/notesSlide" Target="/ppt/notesSlides/notesSlide4.xml" Id="R0b6fd9d010a549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51e0648d3a4dbf" /><Relationship Type="http://schemas.openxmlformats.org/officeDocument/2006/relationships/notesSlide" Target="/ppt/notesSlides/notesSlide5.xml" Id="Rcb4e2897d6c440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adc33df40947c3" /><Relationship Type="http://schemas.openxmlformats.org/officeDocument/2006/relationships/notesSlide" Target="/ppt/notesSlides/notesSlide6.xml" Id="R1a70cb7ae94042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43ffab391fc4af4" /><Relationship Type="http://schemas.openxmlformats.org/officeDocument/2006/relationships/image" Target="/ppt/media/image2.png" Id="R2cd3bfbde9f74f1e" /><Relationship Type="http://schemas.openxmlformats.org/officeDocument/2006/relationships/notesSlide" Target="/ppt/notesSlides/notesSlide7.xml" Id="R9d83409c43924b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14efebc64714c39" /><Relationship Type="http://schemas.openxmlformats.org/officeDocument/2006/relationships/notesSlide" Target="/ppt/notesSlides/notesSlide8.xml" Id="R2939aad33f704aa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deck-label">
            <a:extLst xmlns:a="http://schemas.openxmlformats.org/drawingml/2006/main">
              <a:ext uri="{FF2B5EF4-FFF2-40B4-BE49-F238E27FC236}">
                <a16:creationId xmlns:a16="http://schemas.microsoft.com/office/drawing/2014/main" id="{F2F758E1-C6B1-412F-8EE1-37E45861F8C2}"/>
              </a:ext>
            </a:extLst>
          </p:cNvPr>
          <p:cNvSpPr>
            <a:spLocks xmlns:a="http://schemas.openxmlformats.org/drawingml/2006/main" noGrp="1"/>
          </p:cNvSpPr>
          <p:nvPr/>
        </p:nvSpPr>
        <p:spPr>
          <a:xfrm xmlns:a="http://schemas.openxmlformats.org/drawingml/2006/main">
            <a:off x="400050" y="400050"/>
            <a:ext cx="40957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t>EyeReply / VisioALS</a:t>
            </a:r>
          </a:p>
        </p:txBody>
      </p:sp>
      <p:sp>
        <p:nvSpPr>
          <p:cNvPr id="2" name="cover-title">
            <a:extLst xmlns:a="http://schemas.openxmlformats.org/drawingml/2006/main">
              <a:ext uri="{FF2B5EF4-FFF2-40B4-BE49-F238E27FC236}">
                <a16:creationId xmlns:a16="http://schemas.microsoft.com/office/drawing/2014/main" id="{06823506-FB62-4FFE-BE9D-1AE7F61A6BBE}"/>
              </a:ext>
            </a:extLst>
          </p:cNvPr>
          <p:cNvSpPr>
            <a:spLocks xmlns:a="http://schemas.openxmlformats.org/drawingml/2006/main" noGrp="1"/>
          </p:cNvSpPr>
          <p:nvPr/>
        </p:nvSpPr>
        <p:spPr>
          <a:xfrm xmlns:a="http://schemas.openxmlformats.org/drawingml/2006/main">
            <a:off x="400050" y="1581150"/>
            <a:ext cx="10001250" cy="257175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5400" b="1">
                <a:solidFill>
                  <a:srgbClr val="000000"/>
                </a:solidFill>
                <a:latin typeface="Helvetica Neue"/>
                <a:ea typeface="Helvetica Neue"/>
                <a:cs typeface="Helvetica Neue"/>
              </a:defRPr>
            </a:pPr>
            <a:r>
              <a:t>Communication should still sound like you.</a:t>
            </a:r>
          </a:p>
        </p:txBody>
      </p:sp>
      <p:sp>
        <p:nvSpPr>
          <p:cNvPr id="3" name="cover-subtitle">
            <a:extLst xmlns:a="http://schemas.openxmlformats.org/drawingml/2006/main">
              <a:ext uri="{FF2B5EF4-FFF2-40B4-BE49-F238E27FC236}">
                <a16:creationId xmlns:a16="http://schemas.microsoft.com/office/drawing/2014/main" id="{495F28A1-F514-4CA0-A981-4261CDB37F61}"/>
              </a:ext>
            </a:extLst>
          </p:cNvPr>
          <p:cNvSpPr>
            <a:spLocks xmlns:a="http://schemas.openxmlformats.org/drawingml/2006/main" noGrp="1"/>
          </p:cNvSpPr>
          <p:nvPr/>
        </p:nvSpPr>
        <p:spPr>
          <a:xfrm xmlns:a="http://schemas.openxmlformats.org/drawingml/2006/main">
            <a:off x="400050" y="4876800"/>
            <a:ext cx="7429500" cy="590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a:solidFill>
                  <a:srgbClr val="4B5563"/>
                </a:solidFill>
                <a:latin typeface="Helvetica Neue"/>
                <a:ea typeface="Helvetica Neue"/>
                <a:cs typeface="Helvetica Neue"/>
              </a:defRPr>
            </a:pPr>
            <a:r>
              <a:t>Webcam gaze AAC with personalized candidate replies</a:t>
            </a:r>
          </a:p>
        </p:txBody>
      </p:sp>
      <p:sp>
        <p:nvSpPr>
          <p:cNvPr id="4" name="cover-byline">
            <a:extLst xmlns:a="http://schemas.openxmlformats.org/drawingml/2006/main">
              <a:ext uri="{FF2B5EF4-FFF2-40B4-BE49-F238E27FC236}">
                <a16:creationId xmlns:a16="http://schemas.microsoft.com/office/drawing/2014/main" id="{754490FA-5000-44D9-9BB1-22869A3D5B23}"/>
              </a:ext>
            </a:extLst>
          </p:cNvPr>
          <p:cNvSpPr>
            <a:spLocks xmlns:a="http://schemas.openxmlformats.org/drawingml/2006/main" noGrp="1"/>
          </p:cNvSpPr>
          <p:nvPr/>
        </p:nvSpPr>
        <p:spPr>
          <a:xfrm xmlns:a="http://schemas.openxmlformats.org/drawingml/2006/main">
            <a:off x="400050" y="5848350"/>
            <a:ext cx="647700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a:solidFill>
                  <a:srgbClr val="4B5563"/>
                </a:solidFill>
                <a:latin typeface="Helvetica Neue"/>
                <a:ea typeface="Helvetica Neue"/>
                <a:cs typeface="Helvetica Neue"/>
              </a:defRPr>
            </a:pPr>
            <a:r>
              <a:t>Kevin Xia  •  ICCHP 2026 Innovation Area</a:t>
            </a:r>
          </a:p>
        </p:txBody>
      </p:sp>
    </p:spTree>
    <p:extLst>
      <p:ext uri="{BB962C8B-B14F-4D97-AF65-F5344CB8AC3E}">
        <p14:creationId xmlns:p14="http://schemas.microsoft.com/office/powerpoint/2010/main" val="8150079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itle-2">
            <a:extLst xmlns:a="http://schemas.openxmlformats.org/drawingml/2006/main">
              <a:ext uri="{FF2B5EF4-FFF2-40B4-BE49-F238E27FC236}">
                <a16:creationId xmlns:a16="http://schemas.microsoft.com/office/drawing/2014/main" id="{D837EAF9-D512-463D-915A-CCF7C9BD03DB}"/>
              </a:ext>
            </a:extLst>
          </p:cNvPr>
          <p:cNvSpPr>
            <a:spLocks xmlns:a="http://schemas.openxmlformats.org/drawingml/2006/main" noGrp="1"/>
          </p:cNvSpPr>
          <p:nvPr/>
        </p:nvSpPr>
        <p:spPr>
          <a:xfrm xmlns:a="http://schemas.openxmlformats.org/drawingml/2006/main">
            <a:off x="400050" y="323850"/>
            <a:ext cx="11391900" cy="876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000000"/>
                </a:solidFill>
                <a:latin typeface="Helvetica Neue"/>
                <a:ea typeface="Helvetica Neue"/>
                <a:cs typeface="Helvetica Neue"/>
              </a:defRPr>
            </a:pPr>
            <a:r>
              <a:t>A correct reply can still feel like the wrong person</a:t>
            </a:r>
          </a:p>
        </p:txBody>
      </p:sp>
      <p:sp>
        <p:nvSpPr>
          <p:cNvPr id="2" name="page-2">
            <a:extLst xmlns:a="http://schemas.openxmlformats.org/drawingml/2006/main">
              <a:ext uri="{FF2B5EF4-FFF2-40B4-BE49-F238E27FC236}">
                <a16:creationId xmlns:a16="http://schemas.microsoft.com/office/drawing/2014/main" id="{CF4B3964-FD9D-4B4C-903C-4B60BF542BBB}"/>
              </a:ext>
            </a:extLst>
          </p:cNvPr>
          <p:cNvSpPr>
            <a:spLocks xmlns:a="http://schemas.openxmlformats.org/drawingml/2006/main" noGrp="1"/>
          </p:cNvSpPr>
          <p:nvPr/>
        </p:nvSpPr>
        <p:spPr>
          <a:xfrm xmlns:a="http://schemas.openxmlformats.org/drawingml/2006/main">
            <a:off x="11277600" y="6305550"/>
            <a:ext cx="5143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a:solidFill>
                  <a:srgbClr val="4B5563"/>
                </a:solidFill>
                <a:latin typeface="Helvetica Neue"/>
                <a:ea typeface="Helvetica Neue"/>
                <a:cs typeface="Helvetica Neue"/>
              </a:defRPr>
            </a:pPr>
            <a:r>
              <a:t>2</a:t>
            </a:r>
          </a:p>
        </p:txBody>
      </p:sp>
      <p:sp>
        <p:nvSpPr>
          <p:cNvPr id="3" name="example-context">
            <a:extLst xmlns:a="http://schemas.openxmlformats.org/drawingml/2006/main">
              <a:ext uri="{FF2B5EF4-FFF2-40B4-BE49-F238E27FC236}">
                <a16:creationId xmlns:a16="http://schemas.microsoft.com/office/drawing/2014/main" id="{3A93D863-8107-49F3-89EF-12C9E461E868}"/>
              </a:ext>
            </a:extLst>
          </p:cNvPr>
          <p:cNvSpPr>
            <a:spLocks xmlns:a="http://schemas.openxmlformats.org/drawingml/2006/main" noGrp="1"/>
          </p:cNvSpPr>
          <p:nvPr/>
        </p:nvSpPr>
        <p:spPr>
          <a:xfrm xmlns:a="http://schemas.openxmlformats.org/drawingml/2006/main">
            <a:off x="400050" y="1295400"/>
            <a:ext cx="83820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a:solidFill>
                  <a:srgbClr val="4B5563"/>
                </a:solidFill>
                <a:latin typeface="Helvetica Neue"/>
                <a:ea typeface="Helvetica Neue"/>
                <a:cs typeface="Helvetica Neue"/>
              </a:defRPr>
            </a:pPr>
            <a:r>
              <a:t>Illustrative example — same intent, different linguistic identity</a:t>
            </a:r>
          </a:p>
        </p:txBody>
      </p:sp>
      <p:sp>
        <p:nvSpPr>
          <p:cNvPr id="4" name="question">
            <a:extLst xmlns:a="http://schemas.openxmlformats.org/drawingml/2006/main">
              <a:ext uri="{FF2B5EF4-FFF2-40B4-BE49-F238E27FC236}">
                <a16:creationId xmlns:a16="http://schemas.microsoft.com/office/drawing/2014/main" id="{B230542D-C0F3-407C-AFCB-7236B3AC4C60}"/>
              </a:ext>
            </a:extLst>
          </p:cNvPr>
          <p:cNvSpPr>
            <a:spLocks xmlns:a="http://schemas.openxmlformats.org/drawingml/2006/main" noGrp="1"/>
          </p:cNvSpPr>
          <p:nvPr/>
        </p:nvSpPr>
        <p:spPr>
          <a:xfrm xmlns:a="http://schemas.openxmlformats.org/drawingml/2006/main">
            <a:off x="400050" y="1847850"/>
            <a:ext cx="5715000" cy="590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000000"/>
                </a:solidFill>
                <a:latin typeface="Helvetica Neue"/>
                <a:ea typeface="Helvetica Neue"/>
                <a:cs typeface="Helvetica Neue"/>
              </a:defRPr>
            </a:pPr>
            <a:r>
              <a:t>“Want some tea?”</a:t>
            </a:r>
          </a:p>
        </p:txBody>
      </p:sp>
      <p:sp>
        <p:nvSpPr>
          <p:cNvPr id="5" name="generic-box">
            <a:extLst xmlns:a="http://schemas.openxmlformats.org/drawingml/2006/main">
              <a:ext uri="{FF2B5EF4-FFF2-40B4-BE49-F238E27FC236}">
                <a16:creationId xmlns:a16="http://schemas.microsoft.com/office/drawing/2014/main" id="{37514129-EAA7-4905-A334-E5EBB8A04E86}"/>
              </a:ext>
            </a:extLst>
          </p:cNvPr>
          <p:cNvSpPr>
            <a:spLocks xmlns:a="http://schemas.openxmlformats.org/drawingml/2006/main" noGrp="1"/>
          </p:cNvSpPr>
          <p:nvPr/>
        </p:nvSpPr>
        <p:spPr>
          <a:xfrm xmlns:a="http://schemas.openxmlformats.org/drawingml/2006/main">
            <a:off x="400050" y="2990850"/>
            <a:ext cx="5334000" cy="1657350"/>
          </a:xfrm>
          <a:prstGeom xmlns:a="http://schemas.openxmlformats.org/drawingml/2006/main" prst="roundRect">
            <a:avLst>
              <a:gd name="adj" fmla="val 4598"/>
            </a:avLst>
          </a:prstGeom>
          <a:solidFill xmlns:a="http://schemas.openxmlformats.org/drawingml/2006/main">
            <a:srgbClr val="F2F2F2"/>
          </a:solidFill>
          <a:ln xmlns:a="http://schemas.openxmlformats.org/drawingml/2006/main" w="9525">
            <a:solidFill>
              <a:srgbClr val="B8BCC4"/>
            </a:solidFill>
            <a:prstDash val="solid"/>
          </a:ln>
        </p:spPr>
      </p:sp>
      <p:sp>
        <p:nvSpPr>
          <p:cNvPr id="6" name="generic-label">
            <a:extLst xmlns:a="http://schemas.openxmlformats.org/drawingml/2006/main">
              <a:ext uri="{FF2B5EF4-FFF2-40B4-BE49-F238E27FC236}">
                <a16:creationId xmlns:a16="http://schemas.microsoft.com/office/drawing/2014/main" id="{66050165-FF87-4EAF-A958-3F12773E840B}"/>
              </a:ext>
            </a:extLst>
          </p:cNvPr>
          <p:cNvSpPr>
            <a:spLocks xmlns:a="http://schemas.openxmlformats.org/drawingml/2006/main" noGrp="1"/>
          </p:cNvSpPr>
          <p:nvPr/>
        </p:nvSpPr>
        <p:spPr>
          <a:xfrm xmlns:a="http://schemas.openxmlformats.org/drawingml/2006/main">
            <a:off x="666750" y="3257550"/>
            <a:ext cx="19050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4B5563"/>
                </a:solidFill>
                <a:latin typeface="Helvetica Neue"/>
                <a:ea typeface="Helvetica Neue"/>
                <a:cs typeface="Helvetica Neue"/>
              </a:defRPr>
            </a:pPr>
            <a:r>
              <a:t>GENERIC</a:t>
            </a:r>
          </a:p>
        </p:txBody>
      </p:sp>
      <p:sp>
        <p:nvSpPr>
          <p:cNvPr id="7" name="generic-quote">
            <a:extLst xmlns:a="http://schemas.openxmlformats.org/drawingml/2006/main">
              <a:ext uri="{FF2B5EF4-FFF2-40B4-BE49-F238E27FC236}">
                <a16:creationId xmlns:a16="http://schemas.microsoft.com/office/drawing/2014/main" id="{1EBCAE35-B2FE-48FD-A47C-AD93CECEC2AB}"/>
              </a:ext>
            </a:extLst>
          </p:cNvPr>
          <p:cNvSpPr>
            <a:spLocks xmlns:a="http://schemas.openxmlformats.org/drawingml/2006/main" noGrp="1"/>
          </p:cNvSpPr>
          <p:nvPr/>
        </p:nvSpPr>
        <p:spPr>
          <a:xfrm xmlns:a="http://schemas.openxmlformats.org/drawingml/2006/main">
            <a:off x="666750" y="3733800"/>
            <a:ext cx="4762500" cy="609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a:solidFill>
                  <a:srgbClr val="000000"/>
                </a:solidFill>
                <a:latin typeface="Helvetica Neue"/>
                <a:ea typeface="Helvetica Neue"/>
                <a:cs typeface="Helvetica Neue"/>
              </a:defRPr>
            </a:pPr>
            <a:r>
              <a:t>“Yes, please.”</a:t>
            </a:r>
          </a:p>
        </p:txBody>
      </p:sp>
      <p:sp>
        <p:nvSpPr>
          <p:cNvPr id="8" name="identity-box">
            <a:extLst xmlns:a="http://schemas.openxmlformats.org/drawingml/2006/main">
              <a:ext uri="{FF2B5EF4-FFF2-40B4-BE49-F238E27FC236}">
                <a16:creationId xmlns:a16="http://schemas.microsoft.com/office/drawing/2014/main" id="{EA888D30-895A-4425-8BFB-31218C8209FB}"/>
              </a:ext>
            </a:extLst>
          </p:cNvPr>
          <p:cNvSpPr>
            <a:spLocks xmlns:a="http://schemas.openxmlformats.org/drawingml/2006/main" noGrp="1"/>
          </p:cNvSpPr>
          <p:nvPr/>
        </p:nvSpPr>
        <p:spPr>
          <a:xfrm xmlns:a="http://schemas.openxmlformats.org/drawingml/2006/main">
            <a:off x="6076950" y="2990850"/>
            <a:ext cx="5715000" cy="1657350"/>
          </a:xfrm>
          <a:prstGeom xmlns:a="http://schemas.openxmlformats.org/drawingml/2006/main" prst="roundRect">
            <a:avLst>
              <a:gd name="adj" fmla="val 4598"/>
            </a:avLst>
          </a:prstGeom>
          <a:solidFill xmlns:a="http://schemas.openxmlformats.org/drawingml/2006/main">
            <a:srgbClr val="DFF3FC"/>
          </a:solidFill>
          <a:ln xmlns:a="http://schemas.openxmlformats.org/drawingml/2006/main" w="9525">
            <a:solidFill>
              <a:srgbClr val="B8BCC4"/>
            </a:solidFill>
            <a:prstDash val="solid"/>
          </a:ln>
        </p:spPr>
      </p:sp>
      <p:sp>
        <p:nvSpPr>
          <p:cNvPr id="9" name="identity-label">
            <a:extLst xmlns:a="http://schemas.openxmlformats.org/drawingml/2006/main">
              <a:ext uri="{FF2B5EF4-FFF2-40B4-BE49-F238E27FC236}">
                <a16:creationId xmlns:a16="http://schemas.microsoft.com/office/drawing/2014/main" id="{1D1EB0FB-8D95-491A-A5A8-42404D891B82}"/>
              </a:ext>
            </a:extLst>
          </p:cNvPr>
          <p:cNvSpPr>
            <a:spLocks xmlns:a="http://schemas.openxmlformats.org/drawingml/2006/main" noGrp="1"/>
          </p:cNvSpPr>
          <p:nvPr/>
        </p:nvSpPr>
        <p:spPr>
          <a:xfrm xmlns:a="http://schemas.openxmlformats.org/drawingml/2006/main">
            <a:off x="6381750" y="3257550"/>
            <a:ext cx="3238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t>STYLE-MATCHED CANDIDATE</a:t>
            </a:r>
          </a:p>
        </p:txBody>
      </p:sp>
      <p:sp>
        <p:nvSpPr>
          <p:cNvPr id="10" name="identity-quote">
            <a:extLst xmlns:a="http://schemas.openxmlformats.org/drawingml/2006/main">
              <a:ext uri="{FF2B5EF4-FFF2-40B4-BE49-F238E27FC236}">
                <a16:creationId xmlns:a16="http://schemas.microsoft.com/office/drawing/2014/main" id="{6D4ECA83-0C87-4B79-9085-34EFA4649FFC}"/>
              </a:ext>
            </a:extLst>
          </p:cNvPr>
          <p:cNvSpPr>
            <a:spLocks xmlns:a="http://schemas.openxmlformats.org/drawingml/2006/main" noGrp="1"/>
          </p:cNvSpPr>
          <p:nvPr/>
        </p:nvSpPr>
        <p:spPr>
          <a:xfrm xmlns:a="http://schemas.openxmlformats.org/drawingml/2006/main">
            <a:off x="6381750" y="3714750"/>
            <a:ext cx="5048250" cy="723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a:solidFill>
                  <a:srgbClr val="000000"/>
                </a:solidFill>
                <a:latin typeface="Helvetica Neue"/>
                <a:ea typeface="Helvetica Neue"/>
                <a:cs typeface="Helvetica Neue"/>
              </a:defRPr>
            </a:pPr>
            <a:r>
              <a:t>“Absolutely. Tea is doing most of the work today.”</a:t>
            </a:r>
          </a:p>
        </p:txBody>
      </p:sp>
      <p:sp>
        <p:nvSpPr>
          <p:cNvPr id="11" name="identity-takeaway">
            <a:extLst xmlns:a="http://schemas.openxmlformats.org/drawingml/2006/main">
              <a:ext uri="{FF2B5EF4-FFF2-40B4-BE49-F238E27FC236}">
                <a16:creationId xmlns:a16="http://schemas.microsoft.com/office/drawing/2014/main" id="{71CF80DD-70BC-4BC4-BD67-C93F29096720}"/>
              </a:ext>
            </a:extLst>
          </p:cNvPr>
          <p:cNvSpPr>
            <a:spLocks xmlns:a="http://schemas.openxmlformats.org/drawingml/2006/main" noGrp="1"/>
          </p:cNvSpPr>
          <p:nvPr/>
        </p:nvSpPr>
        <p:spPr>
          <a:xfrm xmlns:a="http://schemas.openxmlformats.org/drawingml/2006/main">
            <a:off x="400050" y="5219700"/>
            <a:ext cx="10287000" cy="552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000000"/>
                </a:solidFill>
                <a:latin typeface="Helvetica Neue"/>
                <a:ea typeface="Helvetica Neue"/>
                <a:cs typeface="Helvetica Neue"/>
              </a:defRPr>
            </a:pPr>
            <a:r>
              <a:t>The goal is not more eloquent text. It is recognizable authorship.</a:t>
            </a:r>
          </a:p>
        </p:txBody>
      </p:sp>
    </p:spTree>
    <p:extLst>
      <p:ext uri="{BB962C8B-B14F-4D97-AF65-F5344CB8AC3E}">
        <p14:creationId xmlns:p14="http://schemas.microsoft.com/office/powerpoint/2010/main" val="33265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itle-3">
            <a:extLst xmlns:a="http://schemas.openxmlformats.org/drawingml/2006/main">
              <a:ext uri="{FF2B5EF4-FFF2-40B4-BE49-F238E27FC236}">
                <a16:creationId xmlns:a16="http://schemas.microsoft.com/office/drawing/2014/main" id="{BB1320FF-397B-4CBE-9B72-89855958DA1D}"/>
              </a:ext>
            </a:extLst>
          </p:cNvPr>
          <p:cNvSpPr>
            <a:spLocks xmlns:a="http://schemas.openxmlformats.org/drawingml/2006/main" noGrp="1"/>
          </p:cNvSpPr>
          <p:nvPr/>
        </p:nvSpPr>
        <p:spPr>
          <a:xfrm xmlns:a="http://schemas.openxmlformats.org/drawingml/2006/main">
            <a:off x="400050" y="323850"/>
            <a:ext cx="11391900" cy="876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000000"/>
                </a:solidFill>
                <a:latin typeface="Helvetica Neue"/>
                <a:ea typeface="Helvetica Neue"/>
                <a:cs typeface="Helvetica Neue"/>
              </a:defRPr>
            </a:pPr>
            <a:r>
              <a:t>The interaction is deliberately simple</a:t>
            </a:r>
          </a:p>
        </p:txBody>
      </p:sp>
      <p:sp>
        <p:nvSpPr>
          <p:cNvPr id="2" name="page-3">
            <a:extLst xmlns:a="http://schemas.openxmlformats.org/drawingml/2006/main">
              <a:ext uri="{FF2B5EF4-FFF2-40B4-BE49-F238E27FC236}">
                <a16:creationId xmlns:a16="http://schemas.microsoft.com/office/drawing/2014/main" id="{31CAC828-601A-428A-8739-678E332A4E6B}"/>
              </a:ext>
            </a:extLst>
          </p:cNvPr>
          <p:cNvSpPr>
            <a:spLocks xmlns:a="http://schemas.openxmlformats.org/drawingml/2006/main" noGrp="1"/>
          </p:cNvSpPr>
          <p:nvPr/>
        </p:nvSpPr>
        <p:spPr>
          <a:xfrm xmlns:a="http://schemas.openxmlformats.org/drawingml/2006/main">
            <a:off x="11277600" y="6305550"/>
            <a:ext cx="5143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a:solidFill>
                  <a:srgbClr val="4B5563"/>
                </a:solidFill>
                <a:latin typeface="Helvetica Neue"/>
                <a:ea typeface="Helvetica Neue"/>
                <a:cs typeface="Helvetica Neue"/>
              </a:defRPr>
            </a:pPr>
            <a:r>
              <a:t>3</a:t>
            </a:r>
          </a:p>
        </p:txBody>
      </p:sp>
      <p:pic>
        <p:nvPicPr>
          <p:cNvPr id="11" name="demo-screenshot"/>
          <p:cNvPicPr>
            <a:picLocks xmlns:a="http://schemas.openxmlformats.org/drawingml/2006/main" noChangeAspect="1"/>
          </p:cNvPicPr>
          <p:nvPr/>
        </p:nvPicPr>
        <p:blipFill>
          <a:blip xmlns:r="http://schemas.openxmlformats.org/officeDocument/2006/relationships" xmlns:a="http://schemas.openxmlformats.org/drawingml/2006/main" r:embed="R8093d1a0520e4a53"/>
          <a:stretch xmlns:a="http://schemas.openxmlformats.org/drawingml/2006/main"/>
        </p:blipFill>
        <p:spPr>
          <a:xfrm xmlns:a="http://schemas.openxmlformats.org/drawingml/2006/main">
            <a:off x="5219700" y="1713905"/>
            <a:ext cx="6572250" cy="3696891"/>
          </a:xfrm>
          <a:prstGeom xmlns:a="http://schemas.openxmlformats.org/drawingml/2006/main" prst="rect">
            <a:avLst/>
          </a:prstGeom>
        </p:spPr>
      </p:pic>
      <p:sp>
        <p:nvSpPr>
          <p:cNvPr id="4" name="flow-1">
            <a:extLst xmlns:a="http://schemas.openxmlformats.org/drawingml/2006/main">
              <a:ext uri="{FF2B5EF4-FFF2-40B4-BE49-F238E27FC236}">
                <a16:creationId xmlns:a16="http://schemas.microsoft.com/office/drawing/2014/main" id="{51FAFC1F-422C-478C-8BDA-79A89A729897}"/>
              </a:ext>
            </a:extLst>
          </p:cNvPr>
          <p:cNvSpPr>
            <a:spLocks xmlns:a="http://schemas.openxmlformats.org/drawingml/2006/main" noGrp="1"/>
          </p:cNvSpPr>
          <p:nvPr/>
        </p:nvSpPr>
        <p:spPr>
          <a:xfrm xmlns:a="http://schemas.openxmlformats.org/drawingml/2006/main">
            <a:off x="400050" y="1619250"/>
            <a:ext cx="4238625" cy="495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000000"/>
                </a:solidFill>
                <a:latin typeface="Helvetica Neue"/>
                <a:ea typeface="Helvetica Neue"/>
                <a:cs typeface="Helvetica Neue"/>
              </a:defRPr>
            </a:pPr>
            <a:r>
              <a:t>1  A partner speaks</a:t>
            </a:r>
          </a:p>
        </p:txBody>
      </p:sp>
      <p:sp>
        <p:nvSpPr>
          <p:cNvPr id="5" name="flow-2">
            <a:extLst xmlns:a="http://schemas.openxmlformats.org/drawingml/2006/main">
              <a:ext uri="{FF2B5EF4-FFF2-40B4-BE49-F238E27FC236}">
                <a16:creationId xmlns:a16="http://schemas.microsoft.com/office/drawing/2014/main" id="{D77A0BF7-7C2E-43BE-8D77-BC9D4D6BF38A}"/>
              </a:ext>
            </a:extLst>
          </p:cNvPr>
          <p:cNvSpPr>
            <a:spLocks xmlns:a="http://schemas.openxmlformats.org/drawingml/2006/main" noGrp="1"/>
          </p:cNvSpPr>
          <p:nvPr/>
        </p:nvSpPr>
        <p:spPr>
          <a:xfrm xmlns:a="http://schemas.openxmlformats.org/drawingml/2006/main">
            <a:off x="400050" y="2514600"/>
            <a:ext cx="4381500" cy="685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000000"/>
                </a:solidFill>
                <a:latin typeface="Helvetica Neue"/>
                <a:ea typeface="Helvetica Neue"/>
                <a:cs typeface="Helvetica Neue"/>
              </a:defRPr>
            </a:pPr>
            <a:r>
              <a:t>2  Four candidate replies appear</a:t>
            </a:r>
          </a:p>
        </p:txBody>
      </p:sp>
      <p:sp>
        <p:nvSpPr>
          <p:cNvPr id="6" name="flow-3">
            <a:extLst xmlns:a="http://schemas.openxmlformats.org/drawingml/2006/main">
              <a:ext uri="{FF2B5EF4-FFF2-40B4-BE49-F238E27FC236}">
                <a16:creationId xmlns:a16="http://schemas.microsoft.com/office/drawing/2014/main" id="{A6F607F2-5DEB-49AB-9AA6-88755D9E3BBA}"/>
              </a:ext>
            </a:extLst>
          </p:cNvPr>
          <p:cNvSpPr>
            <a:spLocks xmlns:a="http://schemas.openxmlformats.org/drawingml/2006/main" noGrp="1"/>
          </p:cNvSpPr>
          <p:nvPr/>
        </p:nvSpPr>
        <p:spPr>
          <a:xfrm xmlns:a="http://schemas.openxmlformats.org/drawingml/2006/main">
            <a:off x="400050" y="3600450"/>
            <a:ext cx="4238625" cy="552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000000"/>
                </a:solidFill>
                <a:latin typeface="Helvetica Neue"/>
                <a:ea typeface="Helvetica Neue"/>
                <a:cs typeface="Helvetica Neue"/>
              </a:defRPr>
            </a:pPr>
            <a:r>
              <a:t>3  The user selects by gaze</a:t>
            </a:r>
          </a:p>
        </p:txBody>
      </p:sp>
      <p:sp>
        <p:nvSpPr>
          <p:cNvPr id="7" name="flow-4">
            <a:extLst xmlns:a="http://schemas.openxmlformats.org/drawingml/2006/main">
              <a:ext uri="{FF2B5EF4-FFF2-40B4-BE49-F238E27FC236}">
                <a16:creationId xmlns:a16="http://schemas.microsoft.com/office/drawing/2014/main" id="{7D40B9AE-AD8A-4438-BB95-FA82158DBD5F}"/>
              </a:ext>
            </a:extLst>
          </p:cNvPr>
          <p:cNvSpPr>
            <a:spLocks xmlns:a="http://schemas.openxmlformats.org/drawingml/2006/main" noGrp="1"/>
          </p:cNvSpPr>
          <p:nvPr/>
        </p:nvSpPr>
        <p:spPr>
          <a:xfrm xmlns:a="http://schemas.openxmlformats.org/drawingml/2006/main">
            <a:off x="400050" y="4591050"/>
            <a:ext cx="4238625" cy="685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000000"/>
                </a:solidFill>
                <a:latin typeface="Helvetica Neue"/>
                <a:ea typeface="Helvetica Neue"/>
                <a:cs typeface="Helvetica Neue"/>
              </a:defRPr>
            </a:pPr>
            <a:r>
              <a:t>4  The chosen reply is spoken</a:t>
            </a:r>
          </a:p>
        </p:txBody>
      </p:sp>
      <p:sp>
        <p:nvSpPr>
          <p:cNvPr id="8" name="reject-callout">
            <a:extLst xmlns:a="http://schemas.openxmlformats.org/drawingml/2006/main">
              <a:ext uri="{FF2B5EF4-FFF2-40B4-BE49-F238E27FC236}">
                <a16:creationId xmlns:a16="http://schemas.microsoft.com/office/drawing/2014/main" id="{5534B2EB-FF1B-4795-9C81-23E2279B822A}"/>
              </a:ext>
            </a:extLst>
          </p:cNvPr>
          <p:cNvSpPr>
            <a:spLocks xmlns:a="http://schemas.openxmlformats.org/drawingml/2006/main" noGrp="1"/>
          </p:cNvSpPr>
          <p:nvPr/>
        </p:nvSpPr>
        <p:spPr>
          <a:xfrm xmlns:a="http://schemas.openxmlformats.org/drawingml/2006/main">
            <a:off x="400050" y="5734050"/>
            <a:ext cx="7429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3D8DFF"/>
                </a:solidFill>
                <a:latin typeface="Helvetica Neue"/>
                <a:ea typeface="Helvetica Neue"/>
                <a:cs typeface="Helvetica Neue"/>
              </a:defRPr>
            </a:pPr>
            <a:r>
              <a:t>“None of these” is always an answer.</a:t>
            </a:r>
          </a:p>
        </p:txBody>
      </p:sp>
    </p:spTree>
    <p:extLst>
      <p:ext uri="{BB962C8B-B14F-4D97-AF65-F5344CB8AC3E}">
        <p14:creationId xmlns:p14="http://schemas.microsoft.com/office/powerpoint/2010/main" val="20236002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itle-4">
            <a:extLst xmlns:a="http://schemas.openxmlformats.org/drawingml/2006/main">
              <a:ext uri="{FF2B5EF4-FFF2-40B4-BE49-F238E27FC236}">
                <a16:creationId xmlns:a16="http://schemas.microsoft.com/office/drawing/2014/main" id="{A8CE45B5-9E37-45AE-8C99-1A295D8CE29A}"/>
              </a:ext>
            </a:extLst>
          </p:cNvPr>
          <p:cNvSpPr>
            <a:spLocks xmlns:a="http://schemas.openxmlformats.org/drawingml/2006/main" noGrp="1"/>
          </p:cNvSpPr>
          <p:nvPr/>
        </p:nvSpPr>
        <p:spPr>
          <a:xfrm xmlns:a="http://schemas.openxmlformats.org/drawingml/2006/main">
            <a:off x="400050" y="323850"/>
            <a:ext cx="11391900" cy="876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000000"/>
                </a:solidFill>
                <a:latin typeface="Helvetica Neue"/>
                <a:ea typeface="Helvetica Neue"/>
                <a:cs typeface="Helvetica Neue"/>
              </a:defRPr>
            </a:pPr>
            <a:r>
              <a:t>“Sounds like me” has three separate layers</a:t>
            </a:r>
          </a:p>
        </p:txBody>
      </p:sp>
      <p:sp>
        <p:nvSpPr>
          <p:cNvPr id="2" name="page-4">
            <a:extLst xmlns:a="http://schemas.openxmlformats.org/drawingml/2006/main">
              <a:ext uri="{FF2B5EF4-FFF2-40B4-BE49-F238E27FC236}">
                <a16:creationId xmlns:a16="http://schemas.microsoft.com/office/drawing/2014/main" id="{D3B3B421-9D20-4F97-AB70-2921BF54A3CE}"/>
              </a:ext>
            </a:extLst>
          </p:cNvPr>
          <p:cNvSpPr>
            <a:spLocks xmlns:a="http://schemas.openxmlformats.org/drawingml/2006/main" noGrp="1"/>
          </p:cNvSpPr>
          <p:nvPr/>
        </p:nvSpPr>
        <p:spPr>
          <a:xfrm xmlns:a="http://schemas.openxmlformats.org/drawingml/2006/main">
            <a:off x="11277600" y="6305550"/>
            <a:ext cx="5143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a:solidFill>
                  <a:srgbClr val="4B5563"/>
                </a:solidFill>
                <a:latin typeface="Helvetica Neue"/>
                <a:ea typeface="Helvetica Neue"/>
                <a:cs typeface="Helvetica Neue"/>
              </a:defRPr>
            </a:pPr>
            <a:r>
              <a:t>4</a:t>
            </a:r>
          </a:p>
        </p:txBody>
      </p:sp>
      <p:cxnSp>
        <p:nvCxnSpPr>
          <p:cNvPr id="18" name="pipeline-line"/>
          <p:cNvCxnSpPr/>
          <p:nvPr/>
        </p:nvCxnSpPr>
        <p:spPr>
          <a:xfrm xmlns:a="http://schemas.openxmlformats.org/drawingml/2006/main">
            <a:off x="685800" y="3238500"/>
            <a:ext cx="10477500" cy="9525"/>
          </a:xfrm>
          <a:prstGeom xmlns:a="http://schemas.openxmlformats.org/drawingml/2006/main" prst="straightConnector1">
            <a:avLst/>
          </a:prstGeom>
          <a:ln xmlns:a="http://schemas.openxmlformats.org/drawingml/2006/main" w="19050">
            <a:solidFill>
              <a:srgbClr val="000000"/>
            </a:solidFill>
            <a:prstDash val="solid"/>
          </a:ln>
        </p:spPr>
      </p:cxnSp>
      <p:sp>
        <p:nvSpPr>
          <p:cNvPr id="4" name="dot-0">
            <a:extLst xmlns:a="http://schemas.openxmlformats.org/drawingml/2006/main">
              <a:ext uri="{FF2B5EF4-FFF2-40B4-BE49-F238E27FC236}">
                <a16:creationId xmlns:a16="http://schemas.microsoft.com/office/drawing/2014/main" id="{C420EDCC-0026-4BD9-B4AB-927234FED18F}"/>
              </a:ext>
            </a:extLst>
          </p:cNvPr>
          <p:cNvSpPr>
            <a:spLocks xmlns:a="http://schemas.openxmlformats.org/drawingml/2006/main" noGrp="1"/>
          </p:cNvSpPr>
          <p:nvPr/>
        </p:nvSpPr>
        <p:spPr>
          <a:xfrm xmlns:a="http://schemas.openxmlformats.org/drawingml/2006/main">
            <a:off x="685800" y="3152775"/>
            <a:ext cx="171450" cy="171450"/>
          </a:xfrm>
          <a:prstGeom xmlns:a="http://schemas.openxmlformats.org/drawingml/2006/main" prst="ellipse">
            <a:avLst/>
          </a:prstGeom>
          <a:solidFill xmlns:a="http://schemas.openxmlformats.org/drawingml/2006/main">
            <a:srgbClr val="000000"/>
          </a:solidFill>
        </p:spPr>
      </p:sp>
      <p:sp>
        <p:nvSpPr>
          <p:cNvPr id="5" name="stage-0">
            <a:extLst xmlns:a="http://schemas.openxmlformats.org/drawingml/2006/main">
              <a:ext uri="{FF2B5EF4-FFF2-40B4-BE49-F238E27FC236}">
                <a16:creationId xmlns:a16="http://schemas.microsoft.com/office/drawing/2014/main" id="{E4602702-4A98-4D2D-BC0D-D886081B78E3}"/>
              </a:ext>
            </a:extLst>
          </p:cNvPr>
          <p:cNvSpPr>
            <a:spLocks xmlns:a="http://schemas.openxmlformats.org/drawingml/2006/main" noGrp="1"/>
          </p:cNvSpPr>
          <p:nvPr/>
        </p:nvSpPr>
        <p:spPr>
          <a:xfrm xmlns:a="http://schemas.openxmlformats.org/drawingml/2006/main">
            <a:off x="685800" y="2628900"/>
            <a:ext cx="6667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4B5563"/>
                </a:solidFill>
                <a:latin typeface="Helvetica Neue"/>
                <a:ea typeface="Helvetica Neue"/>
                <a:cs typeface="Helvetica Neue"/>
              </a:defRPr>
            </a:pPr>
            <a:r>
              <a:t>01</a:t>
            </a:r>
          </a:p>
        </p:txBody>
      </p:sp>
      <p:sp>
        <p:nvSpPr>
          <p:cNvPr id="6" name="dot-1">
            <a:extLst xmlns:a="http://schemas.openxmlformats.org/drawingml/2006/main">
              <a:ext uri="{FF2B5EF4-FFF2-40B4-BE49-F238E27FC236}">
                <a16:creationId xmlns:a16="http://schemas.microsoft.com/office/drawing/2014/main" id="{A55338AA-4DB3-476D-8B72-C2330BF1419F}"/>
              </a:ext>
            </a:extLst>
          </p:cNvPr>
          <p:cNvSpPr>
            <a:spLocks xmlns:a="http://schemas.openxmlformats.org/drawingml/2006/main" noGrp="1"/>
          </p:cNvSpPr>
          <p:nvPr/>
        </p:nvSpPr>
        <p:spPr>
          <a:xfrm xmlns:a="http://schemas.openxmlformats.org/drawingml/2006/main">
            <a:off x="4400550" y="3152775"/>
            <a:ext cx="171450" cy="171450"/>
          </a:xfrm>
          <a:prstGeom xmlns:a="http://schemas.openxmlformats.org/drawingml/2006/main" prst="ellipse">
            <a:avLst/>
          </a:prstGeom>
          <a:solidFill xmlns:a="http://schemas.openxmlformats.org/drawingml/2006/main">
            <a:srgbClr val="000000"/>
          </a:solidFill>
        </p:spPr>
      </p:sp>
      <p:sp>
        <p:nvSpPr>
          <p:cNvPr id="7" name="stage-1">
            <a:extLst xmlns:a="http://schemas.openxmlformats.org/drawingml/2006/main">
              <a:ext uri="{FF2B5EF4-FFF2-40B4-BE49-F238E27FC236}">
                <a16:creationId xmlns:a16="http://schemas.microsoft.com/office/drawing/2014/main" id="{91596055-7409-4F7D-BEFA-6ECFD482301C}"/>
              </a:ext>
            </a:extLst>
          </p:cNvPr>
          <p:cNvSpPr>
            <a:spLocks xmlns:a="http://schemas.openxmlformats.org/drawingml/2006/main" noGrp="1"/>
          </p:cNvSpPr>
          <p:nvPr/>
        </p:nvSpPr>
        <p:spPr>
          <a:xfrm xmlns:a="http://schemas.openxmlformats.org/drawingml/2006/main">
            <a:off x="4400550" y="2628900"/>
            <a:ext cx="6667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4B5563"/>
                </a:solidFill>
                <a:latin typeface="Helvetica Neue"/>
                <a:ea typeface="Helvetica Neue"/>
                <a:cs typeface="Helvetica Neue"/>
              </a:defRPr>
            </a:pPr>
            <a:r>
              <a:t>02</a:t>
            </a:r>
          </a:p>
        </p:txBody>
      </p:sp>
      <p:sp>
        <p:nvSpPr>
          <p:cNvPr id="8" name="dot-2">
            <a:extLst xmlns:a="http://schemas.openxmlformats.org/drawingml/2006/main">
              <a:ext uri="{FF2B5EF4-FFF2-40B4-BE49-F238E27FC236}">
                <a16:creationId xmlns:a16="http://schemas.microsoft.com/office/drawing/2014/main" id="{3398B9A3-AC3A-42CA-B0E8-B669C19BE052}"/>
              </a:ext>
            </a:extLst>
          </p:cNvPr>
          <p:cNvSpPr>
            <a:spLocks xmlns:a="http://schemas.openxmlformats.org/drawingml/2006/main" noGrp="1"/>
          </p:cNvSpPr>
          <p:nvPr/>
        </p:nvSpPr>
        <p:spPr>
          <a:xfrm xmlns:a="http://schemas.openxmlformats.org/drawingml/2006/main">
            <a:off x="8115300" y="3152775"/>
            <a:ext cx="171450" cy="171450"/>
          </a:xfrm>
          <a:prstGeom xmlns:a="http://schemas.openxmlformats.org/drawingml/2006/main" prst="ellipse">
            <a:avLst/>
          </a:prstGeom>
          <a:solidFill xmlns:a="http://schemas.openxmlformats.org/drawingml/2006/main">
            <a:srgbClr val="3D8DFF"/>
          </a:solidFill>
        </p:spPr>
      </p:sp>
      <p:sp>
        <p:nvSpPr>
          <p:cNvPr id="9" name="stage-2">
            <a:extLst xmlns:a="http://schemas.openxmlformats.org/drawingml/2006/main">
              <a:ext uri="{FF2B5EF4-FFF2-40B4-BE49-F238E27FC236}">
                <a16:creationId xmlns:a16="http://schemas.microsoft.com/office/drawing/2014/main" id="{EAABE380-9F01-417A-87E2-D98714EDA658}"/>
              </a:ext>
            </a:extLst>
          </p:cNvPr>
          <p:cNvSpPr>
            <a:spLocks xmlns:a="http://schemas.openxmlformats.org/drawingml/2006/main" noGrp="1"/>
          </p:cNvSpPr>
          <p:nvPr/>
        </p:nvSpPr>
        <p:spPr>
          <a:xfrm xmlns:a="http://schemas.openxmlformats.org/drawingml/2006/main">
            <a:off x="8115300" y="2628900"/>
            <a:ext cx="6667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t>03</a:t>
            </a:r>
          </a:p>
        </p:txBody>
      </p:sp>
      <p:sp>
        <p:nvSpPr>
          <p:cNvPr id="10" name="stage-title-1">
            <a:extLst xmlns:a="http://schemas.openxmlformats.org/drawingml/2006/main">
              <a:ext uri="{FF2B5EF4-FFF2-40B4-BE49-F238E27FC236}">
                <a16:creationId xmlns:a16="http://schemas.microsoft.com/office/drawing/2014/main" id="{3EACCCAA-D188-4DEB-A535-B28D80F42121}"/>
              </a:ext>
            </a:extLst>
          </p:cNvPr>
          <p:cNvSpPr>
            <a:spLocks xmlns:a="http://schemas.openxmlformats.org/drawingml/2006/main" noGrp="1"/>
          </p:cNvSpPr>
          <p:nvPr/>
        </p:nvSpPr>
        <p:spPr>
          <a:xfrm xmlns:a="http://schemas.openxmlformats.org/drawingml/2006/main">
            <a:off x="400050" y="3714750"/>
            <a:ext cx="295275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t>Learn the style</a:t>
            </a:r>
          </a:p>
        </p:txBody>
      </p:sp>
      <p:sp>
        <p:nvSpPr>
          <p:cNvPr id="11" name="stage-body-1">
            <a:extLst xmlns:a="http://schemas.openxmlformats.org/drawingml/2006/main">
              <a:ext uri="{FF2B5EF4-FFF2-40B4-BE49-F238E27FC236}">
                <a16:creationId xmlns:a16="http://schemas.microsoft.com/office/drawing/2014/main" id="{B226D616-560E-49B1-84A5-B261B30E3E51}"/>
              </a:ext>
            </a:extLst>
          </p:cNvPr>
          <p:cNvSpPr>
            <a:spLocks xmlns:a="http://schemas.openxmlformats.org/drawingml/2006/main" noGrp="1"/>
          </p:cNvSpPr>
          <p:nvPr/>
        </p:nvSpPr>
        <p:spPr>
          <a:xfrm xmlns:a="http://schemas.openxmlformats.org/drawingml/2006/main">
            <a:off x="400050" y="4267200"/>
            <a:ext cx="3143250" cy="1257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a:solidFill>
                  <a:srgbClr val="4B5563"/>
                </a:solidFill>
                <a:latin typeface="Helvetica Neue"/>
                <a:ea typeface="Helvetica Neue"/>
                <a:cs typeface="Helvetica Neue"/>
              </a:defRPr>
            </a:pPr>
            <a:r>
              <a:t>Past writing, plus transcripts from audio or video, describe vocabulary, brevity, tone and recurring expressions.</a:t>
            </a:r>
          </a:p>
        </p:txBody>
      </p:sp>
      <p:sp>
        <p:nvSpPr>
          <p:cNvPr id="12" name="stage-title-2">
            <a:extLst xmlns:a="http://schemas.openxmlformats.org/drawingml/2006/main">
              <a:ext uri="{FF2B5EF4-FFF2-40B4-BE49-F238E27FC236}">
                <a16:creationId xmlns:a16="http://schemas.microsoft.com/office/drawing/2014/main" id="{DBDEA4FB-6C0A-4245-9C73-2DC0720EAFAB}"/>
              </a:ext>
            </a:extLst>
          </p:cNvPr>
          <p:cNvSpPr>
            <a:spLocks xmlns:a="http://schemas.openxmlformats.org/drawingml/2006/main" noGrp="1"/>
          </p:cNvSpPr>
          <p:nvPr/>
        </p:nvSpPr>
        <p:spPr>
          <a:xfrm xmlns:a="http://schemas.openxmlformats.org/drawingml/2006/main">
            <a:off x="4114800" y="3714750"/>
            <a:ext cx="3333750" cy="723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t>Retrieve what is relevant</a:t>
            </a:r>
          </a:p>
        </p:txBody>
      </p:sp>
      <p:sp>
        <p:nvSpPr>
          <p:cNvPr id="13" name="stage-body-2">
            <a:extLst xmlns:a="http://schemas.openxmlformats.org/drawingml/2006/main">
              <a:ext uri="{FF2B5EF4-FFF2-40B4-BE49-F238E27FC236}">
                <a16:creationId xmlns:a16="http://schemas.microsoft.com/office/drawing/2014/main" id="{AFEC5CF9-D1E2-44E1-BD15-E70116119AC9}"/>
              </a:ext>
            </a:extLst>
          </p:cNvPr>
          <p:cNvSpPr>
            <a:spLocks xmlns:a="http://schemas.openxmlformats.org/drawingml/2006/main" noGrp="1"/>
          </p:cNvSpPr>
          <p:nvPr/>
        </p:nvSpPr>
        <p:spPr>
          <a:xfrm xmlns:a="http://schemas.openxmlformats.org/drawingml/2006/main">
            <a:off x="4114800" y="4533900"/>
            <a:ext cx="3238500" cy="1066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a:solidFill>
                  <a:srgbClr val="4B5563"/>
                </a:solidFill>
                <a:latin typeface="Helvetica Neue"/>
                <a:ea typeface="Helvetica Neue"/>
                <a:cs typeface="Helvetica Neue"/>
              </a:defRPr>
            </a:pPr>
            <a:r>
              <a:t>Similar past snippets help shape wording. They are style evidence—not facts about what the person wants now.</a:t>
            </a:r>
          </a:p>
        </p:txBody>
      </p:sp>
      <p:sp>
        <p:nvSpPr>
          <p:cNvPr id="14" name="stage-title-3">
            <a:extLst xmlns:a="http://schemas.openxmlformats.org/drawingml/2006/main">
              <a:ext uri="{FF2B5EF4-FFF2-40B4-BE49-F238E27FC236}">
                <a16:creationId xmlns:a16="http://schemas.microsoft.com/office/drawing/2014/main" id="{224194F4-E90F-4F89-93D9-335E7EA2712D}"/>
              </a:ext>
            </a:extLst>
          </p:cNvPr>
          <p:cNvSpPr>
            <a:spLocks xmlns:a="http://schemas.openxmlformats.org/drawingml/2006/main" noGrp="1"/>
          </p:cNvSpPr>
          <p:nvPr/>
        </p:nvSpPr>
        <p:spPr>
          <a:xfrm xmlns:a="http://schemas.openxmlformats.org/drawingml/2006/main">
            <a:off x="7829550" y="3714750"/>
            <a:ext cx="34290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t>Adapt through choices</a:t>
            </a:r>
          </a:p>
        </p:txBody>
      </p:sp>
      <p:sp>
        <p:nvSpPr>
          <p:cNvPr id="15" name="stage-body-3">
            <a:extLst xmlns:a="http://schemas.openxmlformats.org/drawingml/2006/main">
              <a:ext uri="{FF2B5EF4-FFF2-40B4-BE49-F238E27FC236}">
                <a16:creationId xmlns:a16="http://schemas.microsoft.com/office/drawing/2014/main" id="{218D54E2-45F9-4380-98AB-19551A761D4F}"/>
              </a:ext>
            </a:extLst>
          </p:cNvPr>
          <p:cNvSpPr>
            <a:spLocks xmlns:a="http://schemas.openxmlformats.org/drawingml/2006/main" noGrp="1"/>
          </p:cNvSpPr>
          <p:nvPr/>
        </p:nvSpPr>
        <p:spPr>
          <a:xfrm xmlns:a="http://schemas.openxmlformats.org/drawingml/2006/main">
            <a:off x="7829550" y="4267200"/>
            <a:ext cx="3429000" cy="1257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a:solidFill>
                  <a:srgbClr val="4B5563"/>
                </a:solidFill>
                <a:latin typeface="Helvetica Neue"/>
                <a:ea typeface="Helvetica Neue"/>
                <a:cs typeface="Helvetica Neue"/>
              </a:defRPr>
            </a:pPr>
            <a:r>
              <a:t>Selections and rejections become preference rules. The language can change; the current intent still comes from the user.</a:t>
            </a:r>
          </a:p>
        </p:txBody>
      </p:sp>
    </p:spTree>
    <p:extLst>
      <p:ext uri="{BB962C8B-B14F-4D97-AF65-F5344CB8AC3E}">
        <p14:creationId xmlns:p14="http://schemas.microsoft.com/office/powerpoint/2010/main" val="3670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itle-5">
            <a:extLst xmlns:a="http://schemas.openxmlformats.org/drawingml/2006/main">
              <a:ext uri="{FF2B5EF4-FFF2-40B4-BE49-F238E27FC236}">
                <a16:creationId xmlns:a16="http://schemas.microsoft.com/office/drawing/2014/main" id="{14368396-08A8-49FA-8986-07257D998C5D}"/>
              </a:ext>
            </a:extLst>
          </p:cNvPr>
          <p:cNvSpPr>
            <a:spLocks xmlns:a="http://schemas.openxmlformats.org/drawingml/2006/main" noGrp="1"/>
          </p:cNvSpPr>
          <p:nvPr/>
        </p:nvSpPr>
        <p:spPr>
          <a:xfrm xmlns:a="http://schemas.openxmlformats.org/drawingml/2006/main">
            <a:off x="400050" y="323850"/>
            <a:ext cx="11391900" cy="876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000000"/>
                </a:solidFill>
                <a:latin typeface="Helvetica Neue"/>
                <a:ea typeface="Helvetica Neue"/>
                <a:cs typeface="Helvetica Neue"/>
              </a:defRPr>
            </a:pPr>
            <a:r>
              <a:t>The user must remain the author</a:t>
            </a:r>
          </a:p>
        </p:txBody>
      </p:sp>
      <p:sp>
        <p:nvSpPr>
          <p:cNvPr id="2" name="page-5">
            <a:extLst xmlns:a="http://schemas.openxmlformats.org/drawingml/2006/main">
              <a:ext uri="{FF2B5EF4-FFF2-40B4-BE49-F238E27FC236}">
                <a16:creationId xmlns:a16="http://schemas.microsoft.com/office/drawing/2014/main" id="{A507D419-F550-4CF2-ADA9-74514BCC280C}"/>
              </a:ext>
            </a:extLst>
          </p:cNvPr>
          <p:cNvSpPr>
            <a:spLocks xmlns:a="http://schemas.openxmlformats.org/drawingml/2006/main" noGrp="1"/>
          </p:cNvSpPr>
          <p:nvPr/>
        </p:nvSpPr>
        <p:spPr>
          <a:xfrm xmlns:a="http://schemas.openxmlformats.org/drawingml/2006/main">
            <a:off x="11277600" y="6305550"/>
            <a:ext cx="5143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a:solidFill>
                  <a:srgbClr val="4B5563"/>
                </a:solidFill>
                <a:latin typeface="Helvetica Neue"/>
                <a:ea typeface="Helvetica Neue"/>
                <a:cs typeface="Helvetica Neue"/>
              </a:defRPr>
            </a:pPr>
            <a:r>
              <a:t>5</a:t>
            </a:r>
          </a:p>
        </p:txBody>
      </p:sp>
      <p:sp>
        <p:nvSpPr>
          <p:cNvPr id="3" name="agency-1">
            <a:extLst xmlns:a="http://schemas.openxmlformats.org/drawingml/2006/main">
              <a:ext uri="{FF2B5EF4-FFF2-40B4-BE49-F238E27FC236}">
                <a16:creationId xmlns:a16="http://schemas.microsoft.com/office/drawing/2014/main" id="{908BB070-D17B-407C-9233-B32C8805CF15}"/>
              </a:ext>
            </a:extLst>
          </p:cNvPr>
          <p:cNvSpPr>
            <a:spLocks xmlns:a="http://schemas.openxmlformats.org/drawingml/2006/main" noGrp="1"/>
          </p:cNvSpPr>
          <p:nvPr/>
        </p:nvSpPr>
        <p:spPr>
          <a:xfrm xmlns:a="http://schemas.openxmlformats.org/drawingml/2006/main">
            <a:off x="400050" y="1581150"/>
            <a:ext cx="5391150" cy="1771650"/>
          </a:xfrm>
          <a:prstGeom xmlns:a="http://schemas.openxmlformats.org/drawingml/2006/main" prst="roundRect">
            <a:avLst>
              <a:gd name="adj" fmla="val 4301"/>
            </a:avLst>
          </a:prstGeom>
          <a:solidFill xmlns:a="http://schemas.openxmlformats.org/drawingml/2006/main">
            <a:srgbClr val="F2F2F2"/>
          </a:solidFill>
          <a:ln xmlns:a="http://schemas.openxmlformats.org/drawingml/2006/main" w="9525">
            <a:solidFill>
              <a:srgbClr val="B8BCC4"/>
            </a:solidFill>
            <a:prstDash val="solid"/>
          </a:ln>
        </p:spPr>
      </p:sp>
      <p:sp>
        <p:nvSpPr>
          <p:cNvPr id="4" name="agency-2">
            <a:extLst xmlns:a="http://schemas.openxmlformats.org/drawingml/2006/main">
              <a:ext uri="{FF2B5EF4-FFF2-40B4-BE49-F238E27FC236}">
                <a16:creationId xmlns:a16="http://schemas.microsoft.com/office/drawing/2014/main" id="{9E69CB3F-EED0-4A61-85EC-9B7F959267F9}"/>
              </a:ext>
            </a:extLst>
          </p:cNvPr>
          <p:cNvSpPr>
            <a:spLocks xmlns:a="http://schemas.openxmlformats.org/drawingml/2006/main" noGrp="1"/>
          </p:cNvSpPr>
          <p:nvPr/>
        </p:nvSpPr>
        <p:spPr>
          <a:xfrm xmlns:a="http://schemas.openxmlformats.org/drawingml/2006/main">
            <a:off x="6000750" y="1581150"/>
            <a:ext cx="5791200" cy="1771650"/>
          </a:xfrm>
          <a:prstGeom xmlns:a="http://schemas.openxmlformats.org/drawingml/2006/main" prst="roundRect">
            <a:avLst>
              <a:gd name="adj" fmla="val 4301"/>
            </a:avLst>
          </a:prstGeom>
          <a:solidFill xmlns:a="http://schemas.openxmlformats.org/drawingml/2006/main">
            <a:srgbClr val="F2F2F2"/>
          </a:solidFill>
          <a:ln xmlns:a="http://schemas.openxmlformats.org/drawingml/2006/main" w="9525">
            <a:solidFill>
              <a:srgbClr val="B8BCC4"/>
            </a:solidFill>
            <a:prstDash val="solid"/>
          </a:ln>
        </p:spPr>
      </p:sp>
      <p:sp>
        <p:nvSpPr>
          <p:cNvPr id="5" name="agency-3">
            <a:extLst xmlns:a="http://schemas.openxmlformats.org/drawingml/2006/main">
              <a:ext uri="{FF2B5EF4-FFF2-40B4-BE49-F238E27FC236}">
                <a16:creationId xmlns:a16="http://schemas.microsoft.com/office/drawing/2014/main" id="{09C41623-FF9A-413E-927A-B909028A623E}"/>
              </a:ext>
            </a:extLst>
          </p:cNvPr>
          <p:cNvSpPr>
            <a:spLocks xmlns:a="http://schemas.openxmlformats.org/drawingml/2006/main" noGrp="1"/>
          </p:cNvSpPr>
          <p:nvPr/>
        </p:nvSpPr>
        <p:spPr>
          <a:xfrm xmlns:a="http://schemas.openxmlformats.org/drawingml/2006/main">
            <a:off x="400050" y="3638550"/>
            <a:ext cx="5391150" cy="1771650"/>
          </a:xfrm>
          <a:prstGeom xmlns:a="http://schemas.openxmlformats.org/drawingml/2006/main" prst="roundRect">
            <a:avLst>
              <a:gd name="adj" fmla="val 4301"/>
            </a:avLst>
          </a:prstGeom>
          <a:solidFill xmlns:a="http://schemas.openxmlformats.org/drawingml/2006/main">
            <a:srgbClr val="F2F2F2"/>
          </a:solidFill>
          <a:ln xmlns:a="http://schemas.openxmlformats.org/drawingml/2006/main" w="9525">
            <a:solidFill>
              <a:srgbClr val="B8BCC4"/>
            </a:solidFill>
            <a:prstDash val="solid"/>
          </a:ln>
        </p:spPr>
      </p:sp>
      <p:sp>
        <p:nvSpPr>
          <p:cNvPr id="6" name="agency-4">
            <a:extLst xmlns:a="http://schemas.openxmlformats.org/drawingml/2006/main">
              <a:ext uri="{FF2B5EF4-FFF2-40B4-BE49-F238E27FC236}">
                <a16:creationId xmlns:a16="http://schemas.microsoft.com/office/drawing/2014/main" id="{44F5B187-8939-4109-9BD0-750CDC0B47C2}"/>
              </a:ext>
            </a:extLst>
          </p:cNvPr>
          <p:cNvSpPr>
            <a:spLocks xmlns:a="http://schemas.openxmlformats.org/drawingml/2006/main" noGrp="1"/>
          </p:cNvSpPr>
          <p:nvPr/>
        </p:nvSpPr>
        <p:spPr>
          <a:xfrm xmlns:a="http://schemas.openxmlformats.org/drawingml/2006/main">
            <a:off x="6000750" y="3638550"/>
            <a:ext cx="5791200" cy="1771650"/>
          </a:xfrm>
          <a:prstGeom xmlns:a="http://schemas.openxmlformats.org/drawingml/2006/main" prst="roundRect">
            <a:avLst>
              <a:gd name="adj" fmla="val 4301"/>
            </a:avLst>
          </a:prstGeom>
          <a:solidFill xmlns:a="http://schemas.openxmlformats.org/drawingml/2006/main">
            <a:srgbClr val="DFF3FC"/>
          </a:solidFill>
          <a:ln xmlns:a="http://schemas.openxmlformats.org/drawingml/2006/main" w="9525">
            <a:solidFill>
              <a:srgbClr val="B8BCC4"/>
            </a:solidFill>
            <a:prstDash val="solid"/>
          </a:ln>
        </p:spPr>
      </p:sp>
      <p:sp>
        <p:nvSpPr>
          <p:cNvPr id="7" name="agency-label-1">
            <a:extLst xmlns:a="http://schemas.openxmlformats.org/drawingml/2006/main">
              <a:ext uri="{FF2B5EF4-FFF2-40B4-BE49-F238E27FC236}">
                <a16:creationId xmlns:a16="http://schemas.microsoft.com/office/drawing/2014/main" id="{3BF43D2D-1D7C-4856-BE78-EC76F1A6928A}"/>
              </a:ext>
            </a:extLst>
          </p:cNvPr>
          <p:cNvSpPr>
            <a:spLocks xmlns:a="http://schemas.openxmlformats.org/drawingml/2006/main" noGrp="1"/>
          </p:cNvSpPr>
          <p:nvPr/>
        </p:nvSpPr>
        <p:spPr>
          <a:xfrm xmlns:a="http://schemas.openxmlformats.org/drawingml/2006/main">
            <a:off x="666750" y="1847850"/>
            <a:ext cx="17145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4B5563"/>
                </a:solidFill>
                <a:latin typeface="Helvetica Neue"/>
                <a:ea typeface="Helvetica Neue"/>
                <a:cs typeface="Helvetica Neue"/>
              </a:defRPr>
            </a:pPr>
            <a:r>
              <a:t>REJECT</a:t>
            </a:r>
          </a:p>
        </p:txBody>
      </p:sp>
      <p:sp>
        <p:nvSpPr>
          <p:cNvPr id="8" name="agency-title-1">
            <a:extLst xmlns:a="http://schemas.openxmlformats.org/drawingml/2006/main">
              <a:ext uri="{FF2B5EF4-FFF2-40B4-BE49-F238E27FC236}">
                <a16:creationId xmlns:a16="http://schemas.microsoft.com/office/drawing/2014/main" id="{89F5932F-D284-48EF-A7C9-46C5A24DC25E}"/>
              </a:ext>
            </a:extLst>
          </p:cNvPr>
          <p:cNvSpPr>
            <a:spLocks xmlns:a="http://schemas.openxmlformats.org/drawingml/2006/main" noGrp="1"/>
          </p:cNvSpPr>
          <p:nvPr/>
        </p:nvSpPr>
        <p:spPr>
          <a:xfrm xmlns:a="http://schemas.openxmlformats.org/drawingml/2006/main">
            <a:off x="666750" y="2266950"/>
            <a:ext cx="447675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t>None of these</a:t>
            </a:r>
          </a:p>
        </p:txBody>
      </p:sp>
      <p:sp>
        <p:nvSpPr>
          <p:cNvPr id="9" name="agency-body-1">
            <a:extLst xmlns:a="http://schemas.openxmlformats.org/drawingml/2006/main">
              <a:ext uri="{FF2B5EF4-FFF2-40B4-BE49-F238E27FC236}">
                <a16:creationId xmlns:a16="http://schemas.microsoft.com/office/drawing/2014/main" id="{0D8D499E-E6C4-4DE5-90FE-390AF2A77E23}"/>
              </a:ext>
            </a:extLst>
          </p:cNvPr>
          <p:cNvSpPr>
            <a:spLocks xmlns:a="http://schemas.openxmlformats.org/drawingml/2006/main" noGrp="1"/>
          </p:cNvSpPr>
          <p:nvPr/>
        </p:nvSpPr>
        <p:spPr>
          <a:xfrm xmlns:a="http://schemas.openxmlformats.org/drawingml/2006/main">
            <a:off x="666750" y="2781300"/>
            <a:ext cx="4572000" cy="438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a:solidFill>
                  <a:srgbClr val="4B5563"/>
                </a:solidFill>
                <a:latin typeface="Helvetica Neue"/>
                <a:ea typeface="Helvetica Neue"/>
                <a:cs typeface="Helvetica Neue"/>
              </a:defRPr>
            </a:pPr>
            <a:r>
              <a:t>Rejection generates a new set instead of forcing a bad choice.</a:t>
            </a:r>
          </a:p>
        </p:txBody>
      </p:sp>
      <p:sp>
        <p:nvSpPr>
          <p:cNvPr id="10" name="agency-label-2">
            <a:extLst xmlns:a="http://schemas.openxmlformats.org/drawingml/2006/main">
              <a:ext uri="{FF2B5EF4-FFF2-40B4-BE49-F238E27FC236}">
                <a16:creationId xmlns:a16="http://schemas.microsoft.com/office/drawing/2014/main" id="{94A64CDD-AE8D-4A31-BDE5-4DE720DE6D0E}"/>
              </a:ext>
            </a:extLst>
          </p:cNvPr>
          <p:cNvSpPr>
            <a:spLocks xmlns:a="http://schemas.openxmlformats.org/drawingml/2006/main" noGrp="1"/>
          </p:cNvSpPr>
          <p:nvPr/>
        </p:nvSpPr>
        <p:spPr>
          <a:xfrm xmlns:a="http://schemas.openxmlformats.org/drawingml/2006/main">
            <a:off x="6286500" y="1847850"/>
            <a:ext cx="17145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4B5563"/>
                </a:solidFill>
                <a:latin typeface="Helvetica Neue"/>
                <a:ea typeface="Helvetica Neue"/>
                <a:cs typeface="Helvetica Neue"/>
              </a:defRPr>
            </a:pPr>
            <a:r>
              <a:t>ACCESS</a:t>
            </a:r>
          </a:p>
        </p:txBody>
      </p:sp>
      <p:sp>
        <p:nvSpPr>
          <p:cNvPr id="11" name="agency-title-2">
            <a:extLst xmlns:a="http://schemas.openxmlformats.org/drawingml/2006/main">
              <a:ext uri="{FF2B5EF4-FFF2-40B4-BE49-F238E27FC236}">
                <a16:creationId xmlns:a16="http://schemas.microsoft.com/office/drawing/2014/main" id="{EF076942-91A2-4455-98DE-F6E12C1D2E81}"/>
              </a:ext>
            </a:extLst>
          </p:cNvPr>
          <p:cNvSpPr>
            <a:spLocks xmlns:a="http://schemas.openxmlformats.org/drawingml/2006/main" noGrp="1"/>
          </p:cNvSpPr>
          <p:nvPr/>
        </p:nvSpPr>
        <p:spPr>
          <a:xfrm xmlns:a="http://schemas.openxmlformats.org/drawingml/2006/main">
            <a:off x="6286500" y="2266950"/>
            <a:ext cx="45720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t>Eyes or head</a:t>
            </a:r>
          </a:p>
        </p:txBody>
      </p:sp>
      <p:sp>
        <p:nvSpPr>
          <p:cNvPr id="12" name="agency-body-2">
            <a:extLst xmlns:a="http://schemas.openxmlformats.org/drawingml/2006/main">
              <a:ext uri="{FF2B5EF4-FFF2-40B4-BE49-F238E27FC236}">
                <a16:creationId xmlns:a16="http://schemas.microsoft.com/office/drawing/2014/main" id="{4D523C7F-CAB3-4E28-8C1E-CB5275A900CF}"/>
              </a:ext>
            </a:extLst>
          </p:cNvPr>
          <p:cNvSpPr>
            <a:spLocks xmlns:a="http://schemas.openxmlformats.org/drawingml/2006/main" noGrp="1"/>
          </p:cNvSpPr>
          <p:nvPr/>
        </p:nvSpPr>
        <p:spPr>
          <a:xfrm xmlns:a="http://schemas.openxmlformats.org/drawingml/2006/main">
            <a:off x="6286500" y="2781300"/>
            <a:ext cx="47625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a:solidFill>
                  <a:srgbClr val="4B5563"/>
                </a:solidFill>
                <a:latin typeface="Helvetica Neue"/>
                <a:ea typeface="Helvetica Neue"/>
                <a:cs typeface="Helvetica Neue"/>
              </a:defRPr>
            </a:pPr>
            <a:r>
              <a:t>The input mode can follow changing motor ability.</a:t>
            </a:r>
          </a:p>
        </p:txBody>
      </p:sp>
      <p:sp>
        <p:nvSpPr>
          <p:cNvPr id="13" name="agency-label-3">
            <a:extLst xmlns:a="http://schemas.openxmlformats.org/drawingml/2006/main">
              <a:ext uri="{FF2B5EF4-FFF2-40B4-BE49-F238E27FC236}">
                <a16:creationId xmlns:a16="http://schemas.microsoft.com/office/drawing/2014/main" id="{B419C37A-17FF-476B-AF50-D9C7BF919D09}"/>
              </a:ext>
            </a:extLst>
          </p:cNvPr>
          <p:cNvSpPr>
            <a:spLocks xmlns:a="http://schemas.openxmlformats.org/drawingml/2006/main" noGrp="1"/>
          </p:cNvSpPr>
          <p:nvPr/>
        </p:nvSpPr>
        <p:spPr>
          <a:xfrm xmlns:a="http://schemas.openxmlformats.org/drawingml/2006/main">
            <a:off x="666750" y="3905250"/>
            <a:ext cx="17145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4B5563"/>
                </a:solidFill>
                <a:latin typeface="Helvetica Neue"/>
                <a:ea typeface="Helvetica Neue"/>
                <a:cs typeface="Helvetica Neue"/>
              </a:defRPr>
            </a:pPr>
            <a:r>
              <a:t>FALLBACK</a:t>
            </a:r>
          </a:p>
        </p:txBody>
      </p:sp>
      <p:sp>
        <p:nvSpPr>
          <p:cNvPr id="14" name="agency-title-3">
            <a:extLst xmlns:a="http://schemas.openxmlformats.org/drawingml/2006/main">
              <a:ext uri="{FF2B5EF4-FFF2-40B4-BE49-F238E27FC236}">
                <a16:creationId xmlns:a16="http://schemas.microsoft.com/office/drawing/2014/main" id="{7C65D810-B8BD-4B48-BB7C-A535EABF158E}"/>
              </a:ext>
            </a:extLst>
          </p:cNvPr>
          <p:cNvSpPr>
            <a:spLocks xmlns:a="http://schemas.openxmlformats.org/drawingml/2006/main" noGrp="1"/>
          </p:cNvSpPr>
          <p:nvPr/>
        </p:nvSpPr>
        <p:spPr>
          <a:xfrm xmlns:a="http://schemas.openxmlformats.org/drawingml/2006/main">
            <a:off x="666750" y="4324350"/>
            <a:ext cx="47625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t>Communication continues</a:t>
            </a:r>
          </a:p>
        </p:txBody>
      </p:sp>
      <p:sp>
        <p:nvSpPr>
          <p:cNvPr id="15" name="agency-body-3">
            <a:extLst xmlns:a="http://schemas.openxmlformats.org/drawingml/2006/main">
              <a:ext uri="{FF2B5EF4-FFF2-40B4-BE49-F238E27FC236}">
                <a16:creationId xmlns:a16="http://schemas.microsoft.com/office/drawing/2014/main" id="{8C0C7CDF-16E2-42C4-8487-8FA2B7793C42}"/>
              </a:ext>
            </a:extLst>
          </p:cNvPr>
          <p:cNvSpPr>
            <a:spLocks xmlns:a="http://schemas.openxmlformats.org/drawingml/2006/main" noGrp="1"/>
          </p:cNvSpPr>
          <p:nvPr/>
        </p:nvSpPr>
        <p:spPr>
          <a:xfrm xmlns:a="http://schemas.openxmlformats.org/drawingml/2006/main">
            <a:off x="666750" y="4838700"/>
            <a:ext cx="47625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a:solidFill>
                  <a:srgbClr val="4B5563"/>
                </a:solidFill>
                <a:latin typeface="Helvetica Neue"/>
                <a:ea typeface="Helvetica Neue"/>
                <a:cs typeface="Helvetica Neue"/>
              </a:defRPr>
            </a:pPr>
            <a:r>
              <a:t>Local speech recognition and system TTS reduce total dependence on cloud services.</a:t>
            </a:r>
          </a:p>
        </p:txBody>
      </p:sp>
      <p:sp>
        <p:nvSpPr>
          <p:cNvPr id="16" name="agency-label-4">
            <a:extLst xmlns:a="http://schemas.openxmlformats.org/drawingml/2006/main">
              <a:ext uri="{FF2B5EF4-FFF2-40B4-BE49-F238E27FC236}">
                <a16:creationId xmlns:a16="http://schemas.microsoft.com/office/drawing/2014/main" id="{E441DBCB-7628-435C-A383-28CC9CC67963}"/>
              </a:ext>
            </a:extLst>
          </p:cNvPr>
          <p:cNvSpPr>
            <a:spLocks xmlns:a="http://schemas.openxmlformats.org/drawingml/2006/main" noGrp="1"/>
          </p:cNvSpPr>
          <p:nvPr/>
        </p:nvSpPr>
        <p:spPr>
          <a:xfrm xmlns:a="http://schemas.openxmlformats.org/drawingml/2006/main">
            <a:off x="6286500" y="3905250"/>
            <a:ext cx="17145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t>LEARNING</a:t>
            </a:r>
          </a:p>
        </p:txBody>
      </p:sp>
      <p:sp>
        <p:nvSpPr>
          <p:cNvPr id="17" name="agency-title-4">
            <a:extLst xmlns:a="http://schemas.openxmlformats.org/drawingml/2006/main">
              <a:ext uri="{FF2B5EF4-FFF2-40B4-BE49-F238E27FC236}">
                <a16:creationId xmlns:a16="http://schemas.microsoft.com/office/drawing/2014/main" id="{EF4D1A37-5CF6-40EE-B27A-2A607689A2CC}"/>
              </a:ext>
            </a:extLst>
          </p:cNvPr>
          <p:cNvSpPr>
            <a:spLocks xmlns:a="http://schemas.openxmlformats.org/drawingml/2006/main" noGrp="1"/>
          </p:cNvSpPr>
          <p:nvPr/>
        </p:nvSpPr>
        <p:spPr>
          <a:xfrm xmlns:a="http://schemas.openxmlformats.org/drawingml/2006/main">
            <a:off x="6286500" y="4324350"/>
            <a:ext cx="49530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t>Choices teach the system</a:t>
            </a:r>
          </a:p>
        </p:txBody>
      </p:sp>
      <p:sp>
        <p:nvSpPr>
          <p:cNvPr id="18" name="agency-body-4">
            <a:extLst xmlns:a="http://schemas.openxmlformats.org/drawingml/2006/main">
              <a:ext uri="{FF2B5EF4-FFF2-40B4-BE49-F238E27FC236}">
                <a16:creationId xmlns:a16="http://schemas.microsoft.com/office/drawing/2014/main" id="{B65F85D8-C742-4D3A-AF83-7982D7A6A973}"/>
              </a:ext>
            </a:extLst>
          </p:cNvPr>
          <p:cNvSpPr>
            <a:spLocks xmlns:a="http://schemas.openxmlformats.org/drawingml/2006/main" noGrp="1"/>
          </p:cNvSpPr>
          <p:nvPr/>
        </p:nvSpPr>
        <p:spPr>
          <a:xfrm xmlns:a="http://schemas.openxmlformats.org/drawingml/2006/main">
            <a:off x="6286500" y="4838700"/>
            <a:ext cx="49530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a:solidFill>
                  <a:srgbClr val="4B5563"/>
                </a:solidFill>
                <a:latin typeface="Helvetica Neue"/>
                <a:ea typeface="Helvetica Neue"/>
                <a:cs typeface="Helvetica Neue"/>
              </a:defRPr>
            </a:pPr>
            <a:r>
              <a:t>Adaptation is based on what the person selects—not what the model assumes.</a:t>
            </a:r>
          </a:p>
        </p:txBody>
      </p:sp>
    </p:spTree>
    <p:extLst>
      <p:ext uri="{BB962C8B-B14F-4D97-AF65-F5344CB8AC3E}">
        <p14:creationId xmlns:p14="http://schemas.microsoft.com/office/powerpoint/2010/main" val="12280280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itle-6">
            <a:extLst xmlns:a="http://schemas.openxmlformats.org/drawingml/2006/main">
              <a:ext uri="{FF2B5EF4-FFF2-40B4-BE49-F238E27FC236}">
                <a16:creationId xmlns:a16="http://schemas.microsoft.com/office/drawing/2014/main" id="{24E42326-F3AD-4DD6-BAFC-D9B49CAFF215}"/>
              </a:ext>
            </a:extLst>
          </p:cNvPr>
          <p:cNvSpPr>
            <a:spLocks xmlns:a="http://schemas.openxmlformats.org/drawingml/2006/main" noGrp="1"/>
          </p:cNvSpPr>
          <p:nvPr/>
        </p:nvSpPr>
        <p:spPr>
          <a:xfrm xmlns:a="http://schemas.openxmlformats.org/drawingml/2006/main">
            <a:off x="400050" y="323850"/>
            <a:ext cx="11391900" cy="876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000000"/>
                </a:solidFill>
                <a:latin typeface="Helvetica Neue"/>
                <a:ea typeface="Helvetica Neue"/>
                <a:cs typeface="Helvetica Neue"/>
              </a:defRPr>
            </a:pPr>
            <a:r>
              <a:t>We should evaluate the interaction, not just the model</a:t>
            </a:r>
          </a:p>
        </p:txBody>
      </p:sp>
      <p:sp>
        <p:nvSpPr>
          <p:cNvPr id="2" name="page-6">
            <a:extLst xmlns:a="http://schemas.openxmlformats.org/drawingml/2006/main">
              <a:ext uri="{FF2B5EF4-FFF2-40B4-BE49-F238E27FC236}">
                <a16:creationId xmlns:a16="http://schemas.microsoft.com/office/drawing/2014/main" id="{95888945-7883-4117-96BD-0D7F87480F5B}"/>
              </a:ext>
            </a:extLst>
          </p:cNvPr>
          <p:cNvSpPr>
            <a:spLocks xmlns:a="http://schemas.openxmlformats.org/drawingml/2006/main" noGrp="1"/>
          </p:cNvSpPr>
          <p:nvPr/>
        </p:nvSpPr>
        <p:spPr>
          <a:xfrm xmlns:a="http://schemas.openxmlformats.org/drawingml/2006/main">
            <a:off x="11277600" y="6305550"/>
            <a:ext cx="5143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a:solidFill>
                  <a:srgbClr val="4B5563"/>
                </a:solidFill>
                <a:latin typeface="Helvetica Neue"/>
                <a:ea typeface="Helvetica Neue"/>
                <a:cs typeface="Helvetica Neue"/>
              </a:defRPr>
            </a:pPr>
            <a:r>
              <a:t>6</a:t>
            </a:r>
          </a:p>
        </p:txBody>
      </p:sp>
      <p:sp>
        <p:nvSpPr>
          <p:cNvPr id="3" name="evidence-intro">
            <a:extLst xmlns:a="http://schemas.openxmlformats.org/drawingml/2006/main">
              <a:ext uri="{FF2B5EF4-FFF2-40B4-BE49-F238E27FC236}">
                <a16:creationId xmlns:a16="http://schemas.microsoft.com/office/drawing/2014/main" id="{ED3C5B1D-5058-435A-9659-DD0C41A5D7C9}"/>
              </a:ext>
            </a:extLst>
          </p:cNvPr>
          <p:cNvSpPr>
            <a:spLocks xmlns:a="http://schemas.openxmlformats.org/drawingml/2006/main" noGrp="1"/>
          </p:cNvSpPr>
          <p:nvPr/>
        </p:nvSpPr>
        <p:spPr>
          <a:xfrm xmlns:a="http://schemas.openxmlformats.org/drawingml/2006/main">
            <a:off x="400050" y="1314450"/>
            <a:ext cx="99060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a:solidFill>
                  <a:srgbClr val="4B5563"/>
                </a:solidFill>
                <a:latin typeface="Helvetica Neue"/>
                <a:ea typeface="Helvetica Neue"/>
                <a:cs typeface="Helvetica Neue"/>
              </a:defRPr>
            </a:pPr>
            <a:r>
              <a:t>Three small, honest measurements are enough for an Innovation Area demo.</a:t>
            </a:r>
          </a:p>
        </p:txBody>
      </p:sp>
      <p:sp>
        <p:nvSpPr>
          <p:cNvPr id="4" name="measure-1">
            <a:extLst xmlns:a="http://schemas.openxmlformats.org/drawingml/2006/main">
              <a:ext uri="{FF2B5EF4-FFF2-40B4-BE49-F238E27FC236}">
                <a16:creationId xmlns:a16="http://schemas.microsoft.com/office/drawing/2014/main" id="{5169888D-8CD8-457C-BA72-99728C9C4796}"/>
              </a:ext>
            </a:extLst>
          </p:cNvPr>
          <p:cNvSpPr>
            <a:spLocks xmlns:a="http://schemas.openxmlformats.org/drawingml/2006/main" noGrp="1"/>
          </p:cNvSpPr>
          <p:nvPr/>
        </p:nvSpPr>
        <p:spPr>
          <a:xfrm xmlns:a="http://schemas.openxmlformats.org/drawingml/2006/main">
            <a:off x="400050" y="2381250"/>
            <a:ext cx="3524250" cy="2724150"/>
          </a:xfrm>
          <a:prstGeom xmlns:a="http://schemas.openxmlformats.org/drawingml/2006/main" prst="roundRect">
            <a:avLst>
              <a:gd name="adj" fmla="val 2797"/>
            </a:avLst>
          </a:prstGeom>
          <a:solidFill xmlns:a="http://schemas.openxmlformats.org/drawingml/2006/main">
            <a:srgbClr val="F2F2F2"/>
          </a:solidFill>
          <a:ln xmlns:a="http://schemas.openxmlformats.org/drawingml/2006/main" w="9525">
            <a:solidFill>
              <a:srgbClr val="B8BCC4"/>
            </a:solidFill>
            <a:prstDash val="solid"/>
          </a:ln>
        </p:spPr>
      </p:sp>
      <p:sp>
        <p:nvSpPr>
          <p:cNvPr id="5" name="measure-2">
            <a:extLst xmlns:a="http://schemas.openxmlformats.org/drawingml/2006/main">
              <a:ext uri="{FF2B5EF4-FFF2-40B4-BE49-F238E27FC236}">
                <a16:creationId xmlns:a16="http://schemas.microsoft.com/office/drawing/2014/main" id="{D9285DD8-49DC-4AB4-A261-C97D7B273EF1}"/>
              </a:ext>
            </a:extLst>
          </p:cNvPr>
          <p:cNvSpPr>
            <a:spLocks xmlns:a="http://schemas.openxmlformats.org/drawingml/2006/main" noGrp="1"/>
          </p:cNvSpPr>
          <p:nvPr/>
        </p:nvSpPr>
        <p:spPr>
          <a:xfrm xmlns:a="http://schemas.openxmlformats.org/drawingml/2006/main">
            <a:off x="4324350" y="2381250"/>
            <a:ext cx="3524250" cy="2724150"/>
          </a:xfrm>
          <a:prstGeom xmlns:a="http://schemas.openxmlformats.org/drawingml/2006/main" prst="roundRect">
            <a:avLst>
              <a:gd name="adj" fmla="val 2797"/>
            </a:avLst>
          </a:prstGeom>
          <a:solidFill xmlns:a="http://schemas.openxmlformats.org/drawingml/2006/main">
            <a:srgbClr val="F2F2F2"/>
          </a:solidFill>
          <a:ln xmlns:a="http://schemas.openxmlformats.org/drawingml/2006/main" w="9525">
            <a:solidFill>
              <a:srgbClr val="B8BCC4"/>
            </a:solidFill>
            <a:prstDash val="solid"/>
          </a:ln>
        </p:spPr>
      </p:sp>
      <p:sp>
        <p:nvSpPr>
          <p:cNvPr id="6" name="measure-3">
            <a:extLst xmlns:a="http://schemas.openxmlformats.org/drawingml/2006/main">
              <a:ext uri="{FF2B5EF4-FFF2-40B4-BE49-F238E27FC236}">
                <a16:creationId xmlns:a16="http://schemas.microsoft.com/office/drawing/2014/main" id="{50B19272-A5C5-4F09-899B-BE6278F82D7C}"/>
              </a:ext>
            </a:extLst>
          </p:cNvPr>
          <p:cNvSpPr>
            <a:spLocks xmlns:a="http://schemas.openxmlformats.org/drawingml/2006/main" noGrp="1"/>
          </p:cNvSpPr>
          <p:nvPr/>
        </p:nvSpPr>
        <p:spPr>
          <a:xfrm xmlns:a="http://schemas.openxmlformats.org/drawingml/2006/main">
            <a:off x="8248650" y="2381250"/>
            <a:ext cx="3543300" cy="2724150"/>
          </a:xfrm>
          <a:prstGeom xmlns:a="http://schemas.openxmlformats.org/drawingml/2006/main" prst="roundRect">
            <a:avLst>
              <a:gd name="adj" fmla="val 2797"/>
            </a:avLst>
          </a:prstGeom>
          <a:solidFill xmlns:a="http://schemas.openxmlformats.org/drawingml/2006/main">
            <a:srgbClr val="DFF3FC"/>
          </a:solidFill>
          <a:ln xmlns:a="http://schemas.openxmlformats.org/drawingml/2006/main" w="9525">
            <a:solidFill>
              <a:srgbClr val="B8BCC4"/>
            </a:solidFill>
            <a:prstDash val="solid"/>
          </a:ln>
        </p:spPr>
      </p:sp>
      <p:sp>
        <p:nvSpPr>
          <p:cNvPr id="7" name="measure-num-1">
            <a:extLst xmlns:a="http://schemas.openxmlformats.org/drawingml/2006/main">
              <a:ext uri="{FF2B5EF4-FFF2-40B4-BE49-F238E27FC236}">
                <a16:creationId xmlns:a16="http://schemas.microsoft.com/office/drawing/2014/main" id="{E1350536-87C8-4684-B524-960E39AE2954}"/>
              </a:ext>
            </a:extLst>
          </p:cNvPr>
          <p:cNvSpPr>
            <a:spLocks xmlns:a="http://schemas.openxmlformats.org/drawingml/2006/main" noGrp="1"/>
          </p:cNvSpPr>
          <p:nvPr/>
        </p:nvSpPr>
        <p:spPr>
          <a:xfrm xmlns:a="http://schemas.openxmlformats.org/drawingml/2006/main">
            <a:off x="685800" y="2647950"/>
            <a:ext cx="4762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4B5563"/>
                </a:solidFill>
                <a:latin typeface="Helvetica Neue"/>
                <a:ea typeface="Helvetica Neue"/>
                <a:cs typeface="Helvetica Neue"/>
              </a:defRPr>
            </a:pPr>
            <a:r>
              <a:t>01</a:t>
            </a:r>
          </a:p>
        </p:txBody>
      </p:sp>
      <p:sp>
        <p:nvSpPr>
          <p:cNvPr id="8" name="measure-title-1">
            <a:extLst xmlns:a="http://schemas.openxmlformats.org/drawingml/2006/main">
              <a:ext uri="{FF2B5EF4-FFF2-40B4-BE49-F238E27FC236}">
                <a16:creationId xmlns:a16="http://schemas.microsoft.com/office/drawing/2014/main" id="{B5480D90-A39D-4B6E-BFFD-A0D76A6E3DC3}"/>
              </a:ext>
            </a:extLst>
          </p:cNvPr>
          <p:cNvSpPr>
            <a:spLocks xmlns:a="http://schemas.openxmlformats.org/drawingml/2006/main" noGrp="1"/>
          </p:cNvSpPr>
          <p:nvPr/>
        </p:nvSpPr>
        <p:spPr>
          <a:xfrm xmlns:a="http://schemas.openxmlformats.org/drawingml/2006/main">
            <a:off x="685800" y="3162300"/>
            <a:ext cx="276225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t>Selection</a:t>
            </a:r>
          </a:p>
        </p:txBody>
      </p:sp>
      <p:sp>
        <p:nvSpPr>
          <p:cNvPr id="9" name="measure-body-1">
            <a:extLst xmlns:a="http://schemas.openxmlformats.org/drawingml/2006/main">
              <a:ext uri="{FF2B5EF4-FFF2-40B4-BE49-F238E27FC236}">
                <a16:creationId xmlns:a16="http://schemas.microsoft.com/office/drawing/2014/main" id="{5CE03149-B984-4DC0-8807-1460CDDC8085}"/>
              </a:ext>
            </a:extLst>
          </p:cNvPr>
          <p:cNvSpPr>
            <a:spLocks xmlns:a="http://schemas.openxmlformats.org/drawingml/2006/main" noGrp="1"/>
          </p:cNvSpPr>
          <p:nvPr/>
        </p:nvSpPr>
        <p:spPr>
          <a:xfrm xmlns:a="http://schemas.openxmlformats.org/drawingml/2006/main">
            <a:off x="685800" y="3752850"/>
            <a:ext cx="2762250" cy="1066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a:solidFill>
                  <a:srgbClr val="4B5563"/>
                </a:solidFill>
                <a:latin typeface="Helvetica Neue"/>
                <a:ea typeface="Helvetica Neue"/>
                <a:cs typeface="Helvetica Neue"/>
              </a:defRPr>
            </a:pPr>
            <a:r>
              <a:t>Prompted looks to each target
Report target hit rate and recalibrations.</a:t>
            </a:r>
          </a:p>
        </p:txBody>
      </p:sp>
      <p:sp>
        <p:nvSpPr>
          <p:cNvPr id="10" name="measure-num-2">
            <a:extLst xmlns:a="http://schemas.openxmlformats.org/drawingml/2006/main">
              <a:ext uri="{FF2B5EF4-FFF2-40B4-BE49-F238E27FC236}">
                <a16:creationId xmlns:a16="http://schemas.microsoft.com/office/drawing/2014/main" id="{A066B1ED-874E-4B45-B581-66FE784D99C9}"/>
              </a:ext>
            </a:extLst>
          </p:cNvPr>
          <p:cNvSpPr>
            <a:spLocks xmlns:a="http://schemas.openxmlformats.org/drawingml/2006/main" noGrp="1"/>
          </p:cNvSpPr>
          <p:nvPr/>
        </p:nvSpPr>
        <p:spPr>
          <a:xfrm xmlns:a="http://schemas.openxmlformats.org/drawingml/2006/main">
            <a:off x="4610100" y="2647950"/>
            <a:ext cx="4762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4B5563"/>
                </a:solidFill>
                <a:latin typeface="Helvetica Neue"/>
                <a:ea typeface="Helvetica Neue"/>
                <a:cs typeface="Helvetica Neue"/>
              </a:defRPr>
            </a:pPr>
            <a:r>
              <a:t>02</a:t>
            </a:r>
          </a:p>
        </p:txBody>
      </p:sp>
      <p:sp>
        <p:nvSpPr>
          <p:cNvPr id="11" name="measure-title-2">
            <a:extLst xmlns:a="http://schemas.openxmlformats.org/drawingml/2006/main">
              <a:ext uri="{FF2B5EF4-FFF2-40B4-BE49-F238E27FC236}">
                <a16:creationId xmlns:a16="http://schemas.microsoft.com/office/drawing/2014/main" id="{5C493591-CE08-4F75-A1E1-99FA80C477DB}"/>
              </a:ext>
            </a:extLst>
          </p:cNvPr>
          <p:cNvSpPr>
            <a:spLocks xmlns:a="http://schemas.openxmlformats.org/drawingml/2006/main" noGrp="1"/>
          </p:cNvSpPr>
          <p:nvPr/>
        </p:nvSpPr>
        <p:spPr>
          <a:xfrm xmlns:a="http://schemas.openxmlformats.org/drawingml/2006/main">
            <a:off x="4610100" y="3162300"/>
            <a:ext cx="276225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t>Speed</a:t>
            </a:r>
          </a:p>
        </p:txBody>
      </p:sp>
      <p:sp>
        <p:nvSpPr>
          <p:cNvPr id="12" name="measure-body-2">
            <a:extLst xmlns:a="http://schemas.openxmlformats.org/drawingml/2006/main">
              <a:ext uri="{FF2B5EF4-FFF2-40B4-BE49-F238E27FC236}">
                <a16:creationId xmlns:a16="http://schemas.microsoft.com/office/drawing/2014/main" id="{96F265E0-DE88-4A3B-80F5-3DCC503FB6A5}"/>
              </a:ext>
            </a:extLst>
          </p:cNvPr>
          <p:cNvSpPr>
            <a:spLocks xmlns:a="http://schemas.openxmlformats.org/drawingml/2006/main" noGrp="1"/>
          </p:cNvSpPr>
          <p:nvPr/>
        </p:nvSpPr>
        <p:spPr>
          <a:xfrm xmlns:a="http://schemas.openxmlformats.org/drawingml/2006/main">
            <a:off x="4610100" y="3752850"/>
            <a:ext cx="2762250" cy="1066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a:solidFill>
                  <a:srgbClr val="4B5563"/>
                </a:solidFill>
                <a:latin typeface="Helvetica Neue"/>
                <a:ea typeface="Helvetica Neue"/>
                <a:cs typeface="Helvetica Neue"/>
              </a:defRPr>
            </a:pPr>
            <a:r>
              <a:t>Question end → speech start
Report median and slowest trial.</a:t>
            </a:r>
          </a:p>
        </p:txBody>
      </p:sp>
      <p:sp>
        <p:nvSpPr>
          <p:cNvPr id="13" name="measure-num-3">
            <a:extLst xmlns:a="http://schemas.openxmlformats.org/drawingml/2006/main">
              <a:ext uri="{FF2B5EF4-FFF2-40B4-BE49-F238E27FC236}">
                <a16:creationId xmlns:a16="http://schemas.microsoft.com/office/drawing/2014/main" id="{9F18C72E-71BD-4E7C-B6E2-96BF5C02CE78}"/>
              </a:ext>
            </a:extLst>
          </p:cNvPr>
          <p:cNvSpPr>
            <a:spLocks xmlns:a="http://schemas.openxmlformats.org/drawingml/2006/main" noGrp="1"/>
          </p:cNvSpPr>
          <p:nvPr/>
        </p:nvSpPr>
        <p:spPr>
          <a:xfrm xmlns:a="http://schemas.openxmlformats.org/drawingml/2006/main">
            <a:off x="8534400" y="2647950"/>
            <a:ext cx="4762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t>03</a:t>
            </a:r>
          </a:p>
        </p:txBody>
      </p:sp>
      <p:sp>
        <p:nvSpPr>
          <p:cNvPr id="14" name="measure-title-3">
            <a:extLst xmlns:a="http://schemas.openxmlformats.org/drawingml/2006/main">
              <a:ext uri="{FF2B5EF4-FFF2-40B4-BE49-F238E27FC236}">
                <a16:creationId xmlns:a16="http://schemas.microsoft.com/office/drawing/2014/main" id="{224365D1-277D-4976-A953-75CA42C6D26B}"/>
              </a:ext>
            </a:extLst>
          </p:cNvPr>
          <p:cNvSpPr>
            <a:spLocks xmlns:a="http://schemas.openxmlformats.org/drawingml/2006/main" noGrp="1"/>
          </p:cNvSpPr>
          <p:nvPr/>
        </p:nvSpPr>
        <p:spPr>
          <a:xfrm xmlns:a="http://schemas.openxmlformats.org/drawingml/2006/main">
            <a:off x="8534400" y="3162300"/>
            <a:ext cx="28575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t>Identity</a:t>
            </a:r>
          </a:p>
        </p:txBody>
      </p:sp>
      <p:sp>
        <p:nvSpPr>
          <p:cNvPr id="15" name="measure-body-3">
            <a:extLst xmlns:a="http://schemas.openxmlformats.org/drawingml/2006/main">
              <a:ext uri="{FF2B5EF4-FFF2-40B4-BE49-F238E27FC236}">
                <a16:creationId xmlns:a16="http://schemas.microsoft.com/office/drawing/2014/main" id="{B62FDCA0-5159-4869-B30A-2824C518FD8A}"/>
              </a:ext>
            </a:extLst>
          </p:cNvPr>
          <p:cNvSpPr>
            <a:spLocks xmlns:a="http://schemas.openxmlformats.org/drawingml/2006/main" noGrp="1"/>
          </p:cNvSpPr>
          <p:nvPr/>
        </p:nvSpPr>
        <p:spPr>
          <a:xfrm xmlns:a="http://schemas.openxmlformats.org/drawingml/2006/main">
            <a:off x="8534400" y="3752850"/>
            <a:ext cx="2857500" cy="1066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a:solidFill>
                  <a:srgbClr val="4B5563"/>
                </a:solidFill>
                <a:latin typeface="Helvetica Neue"/>
                <a:ea typeface="Helvetica Neue"/>
                <a:cs typeface="Helvetica Neue"/>
              </a:defRPr>
            </a:pPr>
            <a:r>
              <a:t>Blind A/B: generic vs personalized
Ask: “Which sounds more like you?”</a:t>
            </a:r>
          </a:p>
        </p:txBody>
      </p:sp>
      <p:sp>
        <p:nvSpPr>
          <p:cNvPr id="16" name="evidence-footer">
            <a:extLst xmlns:a="http://schemas.openxmlformats.org/drawingml/2006/main">
              <a:ext uri="{FF2B5EF4-FFF2-40B4-BE49-F238E27FC236}">
                <a16:creationId xmlns:a16="http://schemas.microsoft.com/office/drawing/2014/main" id="{DC7B4E24-C906-4163-91CE-8B4E6918BABA}"/>
              </a:ext>
            </a:extLst>
          </p:cNvPr>
          <p:cNvSpPr>
            <a:spLocks xmlns:a="http://schemas.openxmlformats.org/drawingml/2006/main" noGrp="1"/>
          </p:cNvSpPr>
          <p:nvPr/>
        </p:nvSpPr>
        <p:spPr>
          <a:xfrm xmlns:a="http://schemas.openxmlformats.org/drawingml/2006/main">
            <a:off x="400050" y="5676900"/>
            <a:ext cx="95250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t>Prototype evidence ≠ clinical evidence. Label the sample and conditions.</a:t>
            </a:r>
          </a:p>
        </p:txBody>
      </p:sp>
    </p:spTree>
    <p:extLst>
      <p:ext uri="{BB962C8B-B14F-4D97-AF65-F5344CB8AC3E}">
        <p14:creationId xmlns:p14="http://schemas.microsoft.com/office/powerpoint/2010/main" val="5702939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itle-7">
            <a:extLst xmlns:a="http://schemas.openxmlformats.org/drawingml/2006/main">
              <a:ext uri="{FF2B5EF4-FFF2-40B4-BE49-F238E27FC236}">
                <a16:creationId xmlns:a16="http://schemas.microsoft.com/office/drawing/2014/main" id="{F9F854FE-BAEE-437D-9A57-E2E0129A025C}"/>
              </a:ext>
            </a:extLst>
          </p:cNvPr>
          <p:cNvSpPr>
            <a:spLocks xmlns:a="http://schemas.openxmlformats.org/drawingml/2006/main" noGrp="1"/>
          </p:cNvSpPr>
          <p:nvPr/>
        </p:nvSpPr>
        <p:spPr>
          <a:xfrm xmlns:a="http://schemas.openxmlformats.org/drawingml/2006/main">
            <a:off x="400050" y="323850"/>
            <a:ext cx="11391900" cy="876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000000"/>
                </a:solidFill>
                <a:latin typeface="Helvetica Neue"/>
                <a:ea typeface="Helvetica Neue"/>
                <a:cs typeface="Helvetica Neue"/>
              </a:defRPr>
            </a:pPr>
            <a:r>
              <a:t>This is a working prototype—and real-world validation is next</a:t>
            </a:r>
          </a:p>
        </p:txBody>
      </p:sp>
      <p:sp>
        <p:nvSpPr>
          <p:cNvPr id="2" name="page-7">
            <a:extLst xmlns:a="http://schemas.openxmlformats.org/drawingml/2006/main">
              <a:ext uri="{FF2B5EF4-FFF2-40B4-BE49-F238E27FC236}">
                <a16:creationId xmlns:a16="http://schemas.microsoft.com/office/drawing/2014/main" id="{E02380D1-1F67-414F-BECE-9C814F008E06}"/>
              </a:ext>
            </a:extLst>
          </p:cNvPr>
          <p:cNvSpPr>
            <a:spLocks xmlns:a="http://schemas.openxmlformats.org/drawingml/2006/main" noGrp="1"/>
          </p:cNvSpPr>
          <p:nvPr/>
        </p:nvSpPr>
        <p:spPr>
          <a:xfrm xmlns:a="http://schemas.openxmlformats.org/drawingml/2006/main">
            <a:off x="11277600" y="6305550"/>
            <a:ext cx="5143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a:solidFill>
                  <a:srgbClr val="4B5563"/>
                </a:solidFill>
                <a:latin typeface="Helvetica Neue"/>
                <a:ea typeface="Helvetica Neue"/>
                <a:cs typeface="Helvetica Neue"/>
              </a:defRPr>
            </a:pPr>
            <a:r>
              <a:t>7</a:t>
            </a:r>
          </a:p>
        </p:txBody>
      </p:sp>
      <p:pic>
        <p:nvPicPr>
          <p:cNvPr id="10" name="calibration-screenshot"/>
          <p:cNvPicPr>
            <a:picLocks xmlns:a="http://schemas.openxmlformats.org/drawingml/2006/main" noChangeAspect="1"/>
          </p:cNvPicPr>
          <p:nvPr/>
        </p:nvPicPr>
        <p:blipFill>
          <a:blip xmlns:r="http://schemas.openxmlformats.org/officeDocument/2006/relationships" xmlns:a="http://schemas.openxmlformats.org/drawingml/2006/main" r:embed="R2cd3bfbde9f74f1e"/>
          <a:stretch xmlns:a="http://schemas.openxmlformats.org/drawingml/2006/main"/>
        </p:blipFill>
        <p:spPr>
          <a:xfrm xmlns:a="http://schemas.openxmlformats.org/drawingml/2006/main">
            <a:off x="400050" y="1756767"/>
            <a:ext cx="6115050" cy="3439716"/>
          </a:xfrm>
          <a:prstGeom xmlns:a="http://schemas.openxmlformats.org/drawingml/2006/main" prst="rect">
            <a:avLst/>
          </a:prstGeom>
        </p:spPr>
      </p:pic>
      <p:sp>
        <p:nvSpPr>
          <p:cNvPr id="4" name="works-title">
            <a:extLst xmlns:a="http://schemas.openxmlformats.org/drawingml/2006/main">
              <a:ext uri="{FF2B5EF4-FFF2-40B4-BE49-F238E27FC236}">
                <a16:creationId xmlns:a16="http://schemas.microsoft.com/office/drawing/2014/main" id="{C05B1A89-0C6B-4441-968D-2DF05C2803C5}"/>
              </a:ext>
            </a:extLst>
          </p:cNvPr>
          <p:cNvSpPr>
            <a:spLocks xmlns:a="http://schemas.openxmlformats.org/drawingml/2006/main" noGrp="1"/>
          </p:cNvSpPr>
          <p:nvPr/>
        </p:nvSpPr>
        <p:spPr>
          <a:xfrm xmlns:a="http://schemas.openxmlformats.org/drawingml/2006/main">
            <a:off x="6953250" y="1657350"/>
            <a:ext cx="409575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t>What works now</a:t>
            </a:r>
          </a:p>
        </p:txBody>
      </p:sp>
      <p:sp>
        <p:nvSpPr>
          <p:cNvPr id="5" name="works-body">
            <a:extLst xmlns:a="http://schemas.openxmlformats.org/drawingml/2006/main">
              <a:ext uri="{FF2B5EF4-FFF2-40B4-BE49-F238E27FC236}">
                <a16:creationId xmlns:a16="http://schemas.microsoft.com/office/drawing/2014/main" id="{8B009D73-E7EA-4674-986D-0A6F733F1B84}"/>
              </a:ext>
            </a:extLst>
          </p:cNvPr>
          <p:cNvSpPr>
            <a:spLocks xmlns:a="http://schemas.openxmlformats.org/drawingml/2006/main" noGrp="1"/>
          </p:cNvSpPr>
          <p:nvPr/>
        </p:nvSpPr>
        <p:spPr>
          <a:xfrm xmlns:a="http://schemas.openxmlformats.org/drawingml/2006/main">
            <a:off x="6953250" y="2286000"/>
            <a:ext cx="4286250" cy="1905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a:solidFill>
                  <a:srgbClr val="000000"/>
                </a:solidFill>
                <a:latin typeface="Helvetica Neue"/>
                <a:ea typeface="Helvetica Neue"/>
                <a:cs typeface="Helvetica Neue"/>
              </a:defRPr>
            </a:pPr>
            <a:r>
              <a:t>• Standard webcam
• Short calibration
• Four gaze-selectable replies
• Eye/head input modes
• Personalized wording and voice</a:t>
            </a:r>
          </a:p>
        </p:txBody>
      </p:sp>
      <p:sp>
        <p:nvSpPr>
          <p:cNvPr id="6" name="needs-title">
            <a:extLst xmlns:a="http://schemas.openxmlformats.org/drawingml/2006/main">
              <a:ext uri="{FF2B5EF4-FFF2-40B4-BE49-F238E27FC236}">
                <a16:creationId xmlns:a16="http://schemas.microsoft.com/office/drawing/2014/main" id="{57BD1A72-9C84-4B02-88F7-8534137940F8}"/>
              </a:ext>
            </a:extLst>
          </p:cNvPr>
          <p:cNvSpPr>
            <a:spLocks xmlns:a="http://schemas.openxmlformats.org/drawingml/2006/main" noGrp="1"/>
          </p:cNvSpPr>
          <p:nvPr/>
        </p:nvSpPr>
        <p:spPr>
          <a:xfrm xmlns:a="http://schemas.openxmlformats.org/drawingml/2006/main">
            <a:off x="6953250" y="4476750"/>
            <a:ext cx="447675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3D8DFF"/>
                </a:solidFill>
                <a:latin typeface="Helvetica Neue"/>
                <a:ea typeface="Helvetica Neue"/>
                <a:cs typeface="Helvetica Neue"/>
              </a:defRPr>
            </a:pPr>
            <a:r>
              <a:t>What still needs evidence</a:t>
            </a:r>
          </a:p>
        </p:txBody>
      </p:sp>
      <p:sp>
        <p:nvSpPr>
          <p:cNvPr id="7" name="needs-body">
            <a:extLst xmlns:a="http://schemas.openxmlformats.org/drawingml/2006/main">
              <a:ext uri="{FF2B5EF4-FFF2-40B4-BE49-F238E27FC236}">
                <a16:creationId xmlns:a16="http://schemas.microsoft.com/office/drawing/2014/main" id="{6086A345-EC82-48E9-8673-211E6B26D11D}"/>
              </a:ext>
            </a:extLst>
          </p:cNvPr>
          <p:cNvSpPr>
            <a:spLocks xmlns:a="http://schemas.openxmlformats.org/drawingml/2006/main" noGrp="1"/>
          </p:cNvSpPr>
          <p:nvPr/>
        </p:nvSpPr>
        <p:spPr>
          <a:xfrm xmlns:a="http://schemas.openxmlformats.org/drawingml/2006/main">
            <a:off x="6953250" y="5067300"/>
            <a:ext cx="4333875" cy="742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a:solidFill>
                  <a:srgbClr val="4B5563"/>
                </a:solidFill>
                <a:latin typeface="Helvetica Neue"/>
                <a:ea typeface="Helvetica Neue"/>
                <a:cs typeface="Helvetica Neue"/>
              </a:defRPr>
            </a:pPr>
            <a:r>
              <a:t>Use by people with ALS, across fatigue, posture, lighting and real conversations.</a:t>
            </a:r>
          </a:p>
        </p:txBody>
      </p:sp>
    </p:spTree>
    <p:extLst>
      <p:ext uri="{BB962C8B-B14F-4D97-AF65-F5344CB8AC3E}">
        <p14:creationId xmlns:p14="http://schemas.microsoft.com/office/powerpoint/2010/main" val="263159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close-label">
            <a:extLst xmlns:a="http://schemas.openxmlformats.org/drawingml/2006/main">
              <a:ext uri="{FF2B5EF4-FFF2-40B4-BE49-F238E27FC236}">
                <a16:creationId xmlns:a16="http://schemas.microsoft.com/office/drawing/2014/main" id="{91854822-2FBB-4296-81EC-E127AA7EA8B4}"/>
              </a:ext>
            </a:extLst>
          </p:cNvPr>
          <p:cNvSpPr>
            <a:spLocks xmlns:a="http://schemas.openxmlformats.org/drawingml/2006/main" noGrp="1"/>
          </p:cNvSpPr>
          <p:nvPr/>
        </p:nvSpPr>
        <p:spPr>
          <a:xfrm xmlns:a="http://schemas.openxmlformats.org/drawingml/2006/main">
            <a:off x="400050" y="400050"/>
            <a:ext cx="2667000" cy="342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3D8DFF"/>
                </a:solidFill>
                <a:latin typeface="Helvetica Neue"/>
                <a:ea typeface="Helvetica Neue"/>
                <a:cs typeface="Helvetica Neue"/>
              </a:defRPr>
            </a:pPr>
            <a:r>
              <a:t>The question</a:t>
            </a:r>
          </a:p>
        </p:txBody>
      </p:sp>
      <p:sp>
        <p:nvSpPr>
          <p:cNvPr id="2" name="close-title">
            <a:extLst xmlns:a="http://schemas.openxmlformats.org/drawingml/2006/main">
              <a:ext uri="{FF2B5EF4-FFF2-40B4-BE49-F238E27FC236}">
                <a16:creationId xmlns:a16="http://schemas.microsoft.com/office/drawing/2014/main" id="{401ED828-35BD-475B-A8C9-A6BC44146D79}"/>
              </a:ext>
            </a:extLst>
          </p:cNvPr>
          <p:cNvSpPr>
            <a:spLocks xmlns:a="http://schemas.openxmlformats.org/drawingml/2006/main" noGrp="1"/>
          </p:cNvSpPr>
          <p:nvPr/>
        </p:nvSpPr>
        <p:spPr>
          <a:xfrm xmlns:a="http://schemas.openxmlformats.org/drawingml/2006/main">
            <a:off x="400050" y="1524000"/>
            <a:ext cx="10477500" cy="2400300"/>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5100" b="1">
                <a:solidFill>
                  <a:srgbClr val="000000"/>
                </a:solidFill>
                <a:latin typeface="Helvetica Neue"/>
                <a:ea typeface="Helvetica Neue"/>
                <a:cs typeface="Helvetica Neue"/>
              </a:defRPr>
            </a:pPr>
            <a:r>
              <a:t>Can fast AAC preserve not only speech—but authorship?</a:t>
            </a:r>
          </a:p>
        </p:txBody>
      </p:sp>
      <p:sp>
        <p:nvSpPr>
          <p:cNvPr id="3" name="close-cta">
            <a:extLst xmlns:a="http://schemas.openxmlformats.org/drawingml/2006/main">
              <a:ext uri="{FF2B5EF4-FFF2-40B4-BE49-F238E27FC236}">
                <a16:creationId xmlns:a16="http://schemas.microsoft.com/office/drawing/2014/main" id="{86EAAF0A-CC46-46A5-98EF-9FB003F47786}"/>
              </a:ext>
            </a:extLst>
          </p:cNvPr>
          <p:cNvSpPr>
            <a:spLocks xmlns:a="http://schemas.openxmlformats.org/drawingml/2006/main" noGrp="1"/>
          </p:cNvSpPr>
          <p:nvPr/>
        </p:nvSpPr>
        <p:spPr>
          <a:xfrm xmlns:a="http://schemas.openxmlformats.org/drawingml/2006/main">
            <a:off x="400050" y="4914900"/>
            <a:ext cx="8763000" cy="781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a:solidFill>
                  <a:srgbClr val="000000"/>
                </a:solidFill>
                <a:latin typeface="Helvetica Neue"/>
                <a:ea typeface="Helvetica Neue"/>
                <a:cs typeface="Helvetica Neue"/>
              </a:defRPr>
            </a:pPr>
            <a:r>
              <a:t>Try it. Reject a reply. Tell me where it stops feeling like the user.</a:t>
            </a:r>
          </a:p>
        </p:txBody>
      </p:sp>
      <p:sp>
        <p:nvSpPr>
          <p:cNvPr id="4" name="close-footer">
            <a:extLst xmlns:a="http://schemas.openxmlformats.org/drawingml/2006/main">
              <a:ext uri="{FF2B5EF4-FFF2-40B4-BE49-F238E27FC236}">
                <a16:creationId xmlns:a16="http://schemas.microsoft.com/office/drawing/2014/main" id="{5CDD92ED-75FC-48F7-9ECF-A3EBB1EEB9BF}"/>
              </a:ext>
            </a:extLst>
          </p:cNvPr>
          <p:cNvSpPr>
            <a:spLocks xmlns:a="http://schemas.openxmlformats.org/drawingml/2006/main" noGrp="1"/>
          </p:cNvSpPr>
          <p:nvPr/>
        </p:nvSpPr>
        <p:spPr>
          <a:xfrm xmlns:a="http://schemas.openxmlformats.org/drawingml/2006/main">
            <a:off x="400050" y="6038850"/>
            <a:ext cx="59055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a:solidFill>
                  <a:srgbClr val="4B5563"/>
                </a:solidFill>
                <a:latin typeface="Helvetica Neue"/>
                <a:ea typeface="Helvetica Neue"/>
                <a:cs typeface="Helvetica Neue"/>
              </a:defRPr>
            </a:pPr>
            <a:r>
              <a:t>EyeReply / VisioALS  •  open source</a:t>
            </a:r>
          </a:p>
        </p:txBody>
      </p:sp>
    </p:spTree>
    <p:extLst>
      <p:ext uri="{BB962C8B-B14F-4D97-AF65-F5344CB8AC3E}">
        <p14:creationId xmlns:p14="http://schemas.microsoft.com/office/powerpoint/2010/main" val="9840873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2026-07-14T08:42:24.9520000Z</dcterms:created>
  <dcterms:modified xsi:type="dcterms:W3CDTF">2026-07-14T08:42:24.9520000Z</dcterms:modified>
</coreProperties>
</file>